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9" r:id="rId4"/>
    <p:sldId id="260" r:id="rId5"/>
    <p:sldId id="261" r:id="rId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756" y="6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096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609600"/>
          </a:xfrm>
          <a:prstGeom prst="rect">
            <a:avLst/>
          </a:prstGeom>
        </p:spPr>
        <p:txBody>
          <a:bodyPr vert="horz" lIns="91440" tIns="45720" rIns="91440" bIns="45720" rtlCol="0"/>
          <a:lstStyle>
            <a:lvl1pPr algn="r">
              <a:defRPr sz="1200"/>
            </a:lvl1pPr>
          </a:lstStyle>
          <a:p>
            <a:fld id="{E8707909-389B-4C62-81CE-30713EB22CD4}" type="datetimeFigureOut">
              <a:rPr lang="en-IN" smtClean="0"/>
              <a:t>27-08-2026</a:t>
            </a:fld>
            <a:endParaRPr lang="en-IN"/>
          </a:p>
        </p:txBody>
      </p:sp>
      <p:sp>
        <p:nvSpPr>
          <p:cNvPr id="4" name="Slide Image Placeholder 3"/>
          <p:cNvSpPr>
            <a:spLocks noGrp="1" noRot="1" noChangeAspect="1"/>
          </p:cNvSpPr>
          <p:nvPr>
            <p:ph type="sldImg" idx="2"/>
          </p:nvPr>
        </p:nvSpPr>
        <p:spPr>
          <a:xfrm>
            <a:off x="-635000" y="914400"/>
            <a:ext cx="8128000" cy="4572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5791200"/>
            <a:ext cx="5486400" cy="54864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11580813"/>
            <a:ext cx="2971800" cy="6096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11580813"/>
            <a:ext cx="2971800" cy="609600"/>
          </a:xfrm>
          <a:prstGeom prst="rect">
            <a:avLst/>
          </a:prstGeom>
        </p:spPr>
        <p:txBody>
          <a:bodyPr vert="horz" lIns="91440" tIns="45720" rIns="91440" bIns="45720" rtlCol="0" anchor="b"/>
          <a:lstStyle>
            <a:lvl1pPr algn="r">
              <a:defRPr sz="1200"/>
            </a:lvl1pPr>
          </a:lstStyle>
          <a:p>
            <a:fld id="{5E354FD8-ACF0-4822-9E71-9A4AB1B6E49C}" type="slidenum">
              <a:rPr lang="en-IN" smtClean="0"/>
              <a:t>‹#›</a:t>
            </a:fld>
            <a:endParaRPr lang="en-IN"/>
          </a:p>
        </p:txBody>
      </p:sp>
    </p:spTree>
    <p:extLst>
      <p:ext uri="{BB962C8B-B14F-4D97-AF65-F5344CB8AC3E}">
        <p14:creationId xmlns:p14="http://schemas.microsoft.com/office/powerpoint/2010/main" val="39146239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39915-1DA1-D1C4-3B8C-09880B2BBB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90089C-02C9-7BD2-F95E-47A8CDFB4B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39386D-BE4A-B7EA-F75E-BDFC4946435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BC20E99-DB0A-3826-0924-38AEEA8E38AA}"/>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0893284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BDEC7-6488-5586-7DE1-211C65D6F4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B84530-BDBB-6942-8D38-24C3310D45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331C47-AFFF-0432-CC8E-FF7B2D06126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C9047A0-451B-5A80-0FA8-B527EFB2D767}"/>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155328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0866A-2DDD-3F6D-8E84-0F2A073F90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5B7819-8434-EE1B-25BB-0D71A39B27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29D773-54FA-4D65-ECA5-FDEEA0DF740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26C1FD-16D8-889A-145E-1F1238CB9339}"/>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934338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3047"/>
        </a:solidFill>
        <a:effectLst/>
      </p:bgPr>
    </p:bg>
    <p:spTree>
      <p:nvGrpSpPr>
        <p:cNvPr id="1" name=""/>
        <p:cNvGrpSpPr/>
        <p:nvPr/>
      </p:nvGrpSpPr>
      <p:grpSpPr>
        <a:xfrm>
          <a:off x="0" y="0"/>
          <a:ext cx="0" cy="0"/>
          <a:chOff x="0" y="0"/>
          <a:chExt cx="0" cy="0"/>
        </a:xfrm>
      </p:grpSpPr>
      <p:sp>
        <p:nvSpPr>
          <p:cNvPr id="2" name="Shape 0"/>
          <p:cNvSpPr/>
          <p:nvPr/>
        </p:nvSpPr>
        <p:spPr>
          <a:xfrm>
            <a:off x="10332720" y="-1097280"/>
            <a:ext cx="3657600" cy="3657600"/>
          </a:xfrm>
          <a:prstGeom prst="ellipse">
            <a:avLst/>
          </a:prstGeom>
          <a:solidFill>
            <a:srgbClr val="00A896">
              <a:alpha val="15000"/>
            </a:srgbClr>
          </a:solidFill>
          <a:ln/>
        </p:spPr>
        <p:txBody>
          <a:bodyPr/>
          <a:lstStyle/>
          <a:p>
            <a:endParaRPr lang="en-IN"/>
          </a:p>
        </p:txBody>
      </p:sp>
      <p:sp>
        <p:nvSpPr>
          <p:cNvPr id="3" name="Shape 1"/>
          <p:cNvSpPr/>
          <p:nvPr/>
        </p:nvSpPr>
        <p:spPr>
          <a:xfrm>
            <a:off x="11338560" y="5120640"/>
            <a:ext cx="2743200" cy="2743200"/>
          </a:xfrm>
          <a:prstGeom prst="ellipse">
            <a:avLst/>
          </a:prstGeom>
          <a:solidFill>
            <a:srgbClr val="02C39A">
              <a:alpha val="15000"/>
            </a:srgbClr>
          </a:solidFill>
          <a:ln/>
        </p:spPr>
        <p:txBody>
          <a:bodyPr/>
          <a:lstStyle/>
          <a:p>
            <a:endParaRPr lang="en-IN"/>
          </a:p>
        </p:txBody>
      </p:sp>
      <p:sp>
        <p:nvSpPr>
          <p:cNvPr id="4" name="Text 2"/>
          <p:cNvSpPr/>
          <p:nvPr/>
        </p:nvSpPr>
        <p:spPr>
          <a:xfrm>
            <a:off x="822960" y="822960"/>
            <a:ext cx="9144000" cy="548640"/>
          </a:xfrm>
          <a:prstGeom prst="rect">
            <a:avLst/>
          </a:prstGeom>
          <a:noFill/>
          <a:ln/>
        </p:spPr>
        <p:txBody>
          <a:bodyPr wrap="square" lIns="0" tIns="0" rIns="0" bIns="0" rtlCol="0" anchor="ctr"/>
          <a:lstStyle/>
          <a:p>
            <a:pPr marL="0" indent="0">
              <a:buNone/>
            </a:pPr>
            <a:r>
              <a:rPr lang="en-US" sz="1600" b="1" kern="0" spc="300">
                <a:solidFill>
                  <a:srgbClr val="02C39A"/>
                </a:solidFill>
                <a:latin typeface="Calibri" pitchFamily="34" charset="0"/>
                <a:ea typeface="Calibri" pitchFamily="34" charset="-122"/>
                <a:cs typeface="Calibri" pitchFamily="34" charset="-120"/>
              </a:rPr>
              <a:t>INDIVIDUAL PROJECT 1</a:t>
            </a:r>
            <a:endParaRPr lang="en-US" sz="1600" dirty="0"/>
          </a:p>
        </p:txBody>
      </p:sp>
      <p:sp>
        <p:nvSpPr>
          <p:cNvPr id="6" name="Shape 4"/>
          <p:cNvSpPr/>
          <p:nvPr/>
        </p:nvSpPr>
        <p:spPr>
          <a:xfrm>
            <a:off x="4472940" y="2514600"/>
            <a:ext cx="3246120" cy="3017520"/>
          </a:xfrm>
          <a:prstGeom prst="roundRect">
            <a:avLst>
              <a:gd name="adj" fmla="val 1102"/>
            </a:avLst>
          </a:prstGeom>
          <a:solidFill>
            <a:srgbClr val="FFFFFF">
              <a:alpha val="4000"/>
            </a:srgbClr>
          </a:solidFill>
          <a:ln w="12700">
            <a:solidFill>
              <a:srgbClr val="00A896"/>
            </a:solidFill>
            <a:prstDash val="solid"/>
          </a:ln>
          <a:effectLst>
            <a:outerShdw blurRad="101600" dist="38100" dir="5400000" algn="bl" rotWithShape="0">
              <a:srgbClr val="000000">
                <a:alpha val="25000"/>
              </a:srgbClr>
            </a:outerShdw>
          </a:effectLst>
        </p:spPr>
        <p:txBody>
          <a:bodyPr/>
          <a:lstStyle/>
          <a:p>
            <a:endParaRPr lang="en-IN"/>
          </a:p>
        </p:txBody>
      </p:sp>
      <p:sp>
        <p:nvSpPr>
          <p:cNvPr id="7" name="Shape 5"/>
          <p:cNvSpPr/>
          <p:nvPr/>
        </p:nvSpPr>
        <p:spPr>
          <a:xfrm>
            <a:off x="5593080" y="2926080"/>
            <a:ext cx="1005840" cy="1005840"/>
          </a:xfrm>
          <a:prstGeom prst="ellipse">
            <a:avLst/>
          </a:prstGeom>
          <a:solidFill>
            <a:srgbClr val="02C39A"/>
          </a:solidFill>
          <a:ln/>
        </p:spPr>
        <p:txBody>
          <a:bodyPr/>
          <a:lstStyle/>
          <a:p>
            <a:endParaRPr lang="en-IN"/>
          </a:p>
        </p:txBody>
      </p:sp>
      <p:sp>
        <p:nvSpPr>
          <p:cNvPr id="8" name="Text 6"/>
          <p:cNvSpPr/>
          <p:nvPr/>
        </p:nvSpPr>
        <p:spPr>
          <a:xfrm>
            <a:off x="5593080" y="2926080"/>
            <a:ext cx="1005840" cy="1005840"/>
          </a:xfrm>
          <a:prstGeom prst="rect">
            <a:avLst/>
          </a:prstGeom>
          <a:noFill/>
          <a:ln/>
        </p:spPr>
        <p:txBody>
          <a:bodyPr wrap="square" lIns="0" tIns="0" rIns="0" bIns="0" rtlCol="0" anchor="ctr"/>
          <a:lstStyle/>
          <a:p>
            <a:pPr marL="0" indent="0" algn="ctr">
              <a:buNone/>
            </a:pPr>
            <a:r>
              <a:rPr lang="en-US" sz="3200" b="1" dirty="0">
                <a:solidFill>
                  <a:srgbClr val="023047"/>
                </a:solidFill>
                <a:latin typeface="Calibri" pitchFamily="34" charset="0"/>
                <a:ea typeface="Calibri" pitchFamily="34" charset="-122"/>
                <a:cs typeface="Calibri" pitchFamily="34" charset="-120"/>
              </a:rPr>
              <a:t>S</a:t>
            </a:r>
            <a:endParaRPr lang="en-US" sz="3200" dirty="0"/>
          </a:p>
        </p:txBody>
      </p:sp>
      <p:sp>
        <p:nvSpPr>
          <p:cNvPr id="9" name="Text 7"/>
          <p:cNvSpPr/>
          <p:nvPr/>
        </p:nvSpPr>
        <p:spPr>
          <a:xfrm>
            <a:off x="4610100" y="4069080"/>
            <a:ext cx="297180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Sanjay Karthick S</a:t>
            </a:r>
            <a:endParaRPr lang="en-US" sz="2200" dirty="0"/>
          </a:p>
        </p:txBody>
      </p:sp>
      <p:sp>
        <p:nvSpPr>
          <p:cNvPr id="10" name="Text 8"/>
          <p:cNvSpPr/>
          <p:nvPr/>
        </p:nvSpPr>
        <p:spPr>
          <a:xfrm>
            <a:off x="4610100" y="4617720"/>
            <a:ext cx="2971800" cy="292608"/>
          </a:xfrm>
          <a:prstGeom prst="rect">
            <a:avLst/>
          </a:prstGeom>
          <a:noFill/>
          <a:ln/>
        </p:spPr>
        <p:txBody>
          <a:bodyPr wrap="square" lIns="0" tIns="0" rIns="0" bIns="0" rtlCol="0" anchor="ctr"/>
          <a:lstStyle/>
          <a:p>
            <a:pPr marL="0" indent="0" algn="ctr">
              <a:buNone/>
            </a:pPr>
            <a:r>
              <a:rPr lang="en-US" sz="1300" b="1" kern="0" spc="100" dirty="0">
                <a:solidFill>
                  <a:srgbClr val="02C39A"/>
                </a:solidFill>
                <a:latin typeface="Calibri" pitchFamily="34" charset="0"/>
                <a:ea typeface="Calibri" pitchFamily="34" charset="-122"/>
                <a:cs typeface="Calibri" pitchFamily="34" charset="-120"/>
              </a:rPr>
              <a:t>Roll No.</a:t>
            </a:r>
            <a:endParaRPr lang="en-US" sz="1300" dirty="0"/>
          </a:p>
        </p:txBody>
      </p:sp>
      <p:sp>
        <p:nvSpPr>
          <p:cNvPr id="11" name="Text 9"/>
          <p:cNvSpPr/>
          <p:nvPr/>
        </p:nvSpPr>
        <p:spPr>
          <a:xfrm>
            <a:off x="4610100" y="4910328"/>
            <a:ext cx="2971800" cy="347472"/>
          </a:xfrm>
          <a:prstGeom prst="rect">
            <a:avLst/>
          </a:prstGeom>
          <a:noFill/>
          <a:ln/>
        </p:spPr>
        <p:txBody>
          <a:bodyPr wrap="square" lIns="0" tIns="0" rIns="0" bIns="0" rtlCol="0" anchor="ctr"/>
          <a:lstStyle/>
          <a:p>
            <a:pPr marL="0" indent="0" algn="ctr">
              <a:buNone/>
            </a:pPr>
            <a:r>
              <a:rPr lang="en-US" sz="1400" dirty="0">
                <a:solidFill>
                  <a:srgbClr val="D9F2EE"/>
                </a:solidFill>
                <a:latin typeface="Calibri" pitchFamily="34" charset="0"/>
                <a:ea typeface="Calibri" pitchFamily="34" charset="-122"/>
                <a:cs typeface="Calibri" pitchFamily="34" charset="-120"/>
              </a:rPr>
              <a:t>251011013-Sanjay Karthick 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7F6"/>
        </a:solidFill>
        <a:effectLst/>
      </p:bgPr>
    </p:bg>
    <p:spTree>
      <p:nvGrpSpPr>
        <p:cNvPr id="1" name=""/>
        <p:cNvGrpSpPr/>
        <p:nvPr/>
      </p:nvGrpSpPr>
      <p:grpSpPr>
        <a:xfrm>
          <a:off x="0" y="0"/>
          <a:ext cx="0" cy="0"/>
          <a:chOff x="0" y="0"/>
          <a:chExt cx="0" cy="0"/>
        </a:xfrm>
      </p:grpSpPr>
      <p:sp>
        <p:nvSpPr>
          <p:cNvPr id="2" name="Shape 0"/>
          <p:cNvSpPr/>
          <p:nvPr/>
        </p:nvSpPr>
        <p:spPr>
          <a:xfrm>
            <a:off x="0" y="0"/>
            <a:ext cx="12188952" cy="1737360"/>
          </a:xfrm>
          <a:prstGeom prst="rect">
            <a:avLst/>
          </a:prstGeom>
          <a:solidFill>
            <a:srgbClr val="028090"/>
          </a:solidFill>
          <a:ln/>
        </p:spPr>
        <p:txBody>
          <a:bodyPr/>
          <a:lstStyle/>
          <a:p>
            <a:endParaRPr lang="en-IN"/>
          </a:p>
        </p:txBody>
      </p:sp>
      <p:sp>
        <p:nvSpPr>
          <p:cNvPr id="3" name="Shape 1"/>
          <p:cNvSpPr/>
          <p:nvPr/>
        </p:nvSpPr>
        <p:spPr>
          <a:xfrm>
            <a:off x="10607040" y="-914400"/>
            <a:ext cx="2743200" cy="2743200"/>
          </a:xfrm>
          <a:prstGeom prst="ellipse">
            <a:avLst/>
          </a:prstGeom>
          <a:solidFill>
            <a:srgbClr val="00A896">
              <a:alpha val="30000"/>
            </a:srgbClr>
          </a:solidFill>
          <a:ln/>
        </p:spPr>
        <p:txBody>
          <a:bodyPr/>
          <a:lstStyle/>
          <a:p>
            <a:endParaRPr lang="en-IN"/>
          </a:p>
        </p:txBody>
      </p:sp>
      <p:sp>
        <p:nvSpPr>
          <p:cNvPr id="4" name="Text 2"/>
          <p:cNvSpPr/>
          <p:nvPr/>
        </p:nvSpPr>
        <p:spPr>
          <a:xfrm>
            <a:off x="822960" y="292608"/>
            <a:ext cx="10515600" cy="1188720"/>
          </a:xfrm>
          <a:prstGeom prst="rect">
            <a:avLst/>
          </a:prstGeom>
          <a:noFill/>
          <a:ln/>
        </p:spPr>
        <p:txBody>
          <a:bodyPr wrap="square" lIns="0" tIns="0" rIns="0" bIns="0" rtlCol="0" anchor="ctr"/>
          <a:lstStyle/>
          <a:p>
            <a:pPr marL="0" indent="0">
              <a:lnSpc>
                <a:spcPct val="105000"/>
              </a:lnSpc>
              <a:buNone/>
            </a:pPr>
            <a:r>
              <a:rPr lang="en-US" sz="2400" b="1" dirty="0">
                <a:solidFill>
                  <a:srgbClr val="FFFFFF"/>
                </a:solidFill>
                <a:latin typeface="Cambria" pitchFamily="34" charset="0"/>
                <a:ea typeface="Cambria" pitchFamily="34" charset="-122"/>
                <a:cs typeface="Cambria" pitchFamily="34" charset="-120"/>
              </a:rPr>
              <a:t>Generative AI-Driven Question Paper Analysis</a:t>
            </a:r>
            <a:endParaRPr lang="en-US" sz="2400" dirty="0"/>
          </a:p>
          <a:p>
            <a:pPr marL="0" indent="0">
              <a:lnSpc>
                <a:spcPct val="105000"/>
              </a:lnSpc>
              <a:buNone/>
            </a:pPr>
            <a:r>
              <a:rPr lang="en-US" sz="2400" b="1" dirty="0">
                <a:solidFill>
                  <a:srgbClr val="FFFFFF"/>
                </a:solidFill>
                <a:latin typeface="Cambria" pitchFamily="34" charset="0"/>
                <a:ea typeface="Cambria" pitchFamily="34" charset="-122"/>
                <a:cs typeface="Cambria" pitchFamily="34" charset="-120"/>
              </a:rPr>
              <a:t>and Exam Trend Forecasting System</a:t>
            </a:r>
            <a:endParaRPr lang="en-US" sz="2400" dirty="0"/>
          </a:p>
        </p:txBody>
      </p:sp>
      <p:sp>
        <p:nvSpPr>
          <p:cNvPr id="5" name="Text 3"/>
          <p:cNvSpPr/>
          <p:nvPr/>
        </p:nvSpPr>
        <p:spPr>
          <a:xfrm>
            <a:off x="822960" y="1965960"/>
            <a:ext cx="4572000" cy="365760"/>
          </a:xfrm>
          <a:prstGeom prst="rect">
            <a:avLst/>
          </a:prstGeom>
          <a:noFill/>
          <a:ln/>
        </p:spPr>
        <p:txBody>
          <a:bodyPr wrap="square" lIns="0" tIns="0" rIns="0" bIns="0" rtlCol="0" anchor="ctr"/>
          <a:lstStyle/>
          <a:p>
            <a:pPr marL="0" indent="0">
              <a:buNone/>
            </a:pPr>
            <a:r>
              <a:rPr lang="en-US" sz="1400" b="1" kern="0" spc="300" dirty="0">
                <a:solidFill>
                  <a:srgbClr val="028090"/>
                </a:solidFill>
                <a:latin typeface="Calibri" pitchFamily="34" charset="0"/>
                <a:ea typeface="Calibri" pitchFamily="34" charset="-122"/>
                <a:cs typeface="Calibri" pitchFamily="34" charset="-120"/>
              </a:rPr>
              <a:t>ABSTRACT</a:t>
            </a:r>
            <a:endParaRPr lang="en-US" sz="1400" dirty="0"/>
          </a:p>
        </p:txBody>
      </p:sp>
      <p:sp>
        <p:nvSpPr>
          <p:cNvPr id="6" name="Text 4"/>
          <p:cNvSpPr/>
          <p:nvPr/>
        </p:nvSpPr>
        <p:spPr>
          <a:xfrm>
            <a:off x="822960" y="2331720"/>
            <a:ext cx="10515600" cy="4206240"/>
          </a:xfrm>
          <a:prstGeom prst="rect">
            <a:avLst/>
          </a:prstGeom>
          <a:noFill/>
          <a:ln/>
        </p:spPr>
        <p:txBody>
          <a:bodyPr wrap="square" lIns="0" tIns="0" rIns="0" bIns="0" rtlCol="0" anchor="t"/>
          <a:lstStyle/>
          <a:p>
            <a:r>
              <a:rPr lang="en-IN" sz="1400" b="1" dirty="0"/>
              <a:t>Problem Statement</a:t>
            </a:r>
          </a:p>
          <a:p>
            <a:endParaRPr lang="en-IN" sz="1400" dirty="0"/>
          </a:p>
          <a:p>
            <a:r>
              <a:rPr lang="en-IN" sz="1400" dirty="0"/>
              <a:t>Students traditionally </a:t>
            </a:r>
            <a:r>
              <a:rPr lang="en-IN" sz="1400" dirty="0" err="1"/>
              <a:t>analyze</a:t>
            </a:r>
            <a:r>
              <a:rPr lang="en-IN" sz="1400" dirty="0"/>
              <a:t> previous-year question papers manually to identify recurring topics and important concepts. This process is time-consuming, subjective, and difficult when multiple years and subjects are involved. Existing generic AI assistants can summarize question papers but are not specifically designed for exam trend analysis and topic forecasting. The proposed system uses NLP, data analytics, and Generative AI to </a:t>
            </a:r>
            <a:r>
              <a:rPr lang="en-IN" sz="1400" dirty="0" err="1"/>
              <a:t>analyze</a:t>
            </a:r>
            <a:r>
              <a:rPr lang="en-IN" sz="1400" dirty="0"/>
              <a:t> historical question papers and identify examination trends.</a:t>
            </a:r>
          </a:p>
          <a:p>
            <a:endParaRPr lang="en-IN" sz="1400" dirty="0"/>
          </a:p>
          <a:p>
            <a:r>
              <a:rPr lang="en-IN" sz="1400" b="1" dirty="0"/>
              <a:t>Objectives</a:t>
            </a:r>
          </a:p>
          <a:p>
            <a:endParaRPr lang="en-IN" sz="1400" dirty="0"/>
          </a:p>
          <a:p>
            <a:r>
              <a:rPr lang="en-IN" sz="1400" dirty="0"/>
              <a:t>1. Collect and preprocess historical question papers from multiple academic years.</a:t>
            </a:r>
          </a:p>
          <a:p>
            <a:r>
              <a:rPr lang="en-IN" sz="1400" dirty="0"/>
              <a:t>2. Extract and categorize questions based on topics, concepts, units, and question patterns using NLP.</a:t>
            </a:r>
          </a:p>
          <a:p>
            <a:r>
              <a:rPr lang="en-IN" sz="1400" dirty="0"/>
              <a:t>3. </a:t>
            </a:r>
            <a:r>
              <a:rPr lang="en-IN" sz="1400" dirty="0" err="1"/>
              <a:t>Analyze</a:t>
            </a:r>
            <a:r>
              <a:rPr lang="en-IN" sz="1400" dirty="0"/>
              <a:t> historical trends using frequency, recurrence, and temporal patterns.</a:t>
            </a:r>
          </a:p>
          <a:p>
            <a:r>
              <a:rPr lang="en-IN" sz="1400" dirty="0"/>
              <a:t>4. Predict high-probability topics/concepts for upcoming examinations.</a:t>
            </a:r>
          </a:p>
          <a:p>
            <a:r>
              <a:rPr lang="en-IN" sz="1400" dirty="0"/>
              <a:t>5. Generate revision-oriented study material based on the identified important topics.</a:t>
            </a:r>
          </a:p>
          <a:p>
            <a:br>
              <a:rPr lang="en-IN" sz="1400" dirty="0"/>
            </a:br>
            <a:endParaRPr lang="en-IN" sz="1400" dirty="0"/>
          </a:p>
          <a:p>
            <a:br>
              <a:rPr lang="en-IN" sz="1400" dirty="0"/>
            </a:br>
            <a:endParaRPr lang="en-IN" sz="1400" dirty="0"/>
          </a:p>
          <a:p>
            <a:br>
              <a:rPr lang="en-IN" sz="1400" dirty="0"/>
            </a:br>
            <a:endParaRPr lang="en-IN" sz="1400" dirty="0"/>
          </a:p>
          <a:p>
            <a:br>
              <a:rPr lang="en-IN" sz="1400" dirty="0"/>
            </a:br>
            <a:endParaRPr lang="en-IN"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7F6"/>
        </a:solidFill>
        <a:effectLst/>
      </p:bgPr>
    </p:bg>
    <p:spTree>
      <p:nvGrpSpPr>
        <p:cNvPr id="1" name="">
          <a:extLst>
            <a:ext uri="{FF2B5EF4-FFF2-40B4-BE49-F238E27FC236}">
              <a16:creationId xmlns:a16="http://schemas.microsoft.com/office/drawing/2014/main" id="{CCB22E82-242D-B3E2-E618-53CF62C03AE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7093586-4EEE-6F34-707A-7D64DC642F95}"/>
              </a:ext>
            </a:extLst>
          </p:cNvPr>
          <p:cNvSpPr/>
          <p:nvPr/>
        </p:nvSpPr>
        <p:spPr>
          <a:xfrm>
            <a:off x="0" y="0"/>
            <a:ext cx="12188952" cy="1737360"/>
          </a:xfrm>
          <a:prstGeom prst="rect">
            <a:avLst/>
          </a:prstGeom>
          <a:solidFill>
            <a:srgbClr val="028090"/>
          </a:solidFill>
          <a:ln/>
        </p:spPr>
        <p:txBody>
          <a:bodyPr/>
          <a:lstStyle/>
          <a:p>
            <a:endParaRPr lang="en-IN"/>
          </a:p>
        </p:txBody>
      </p:sp>
      <p:sp>
        <p:nvSpPr>
          <p:cNvPr id="3" name="Shape 1">
            <a:extLst>
              <a:ext uri="{FF2B5EF4-FFF2-40B4-BE49-F238E27FC236}">
                <a16:creationId xmlns:a16="http://schemas.microsoft.com/office/drawing/2014/main" id="{C564F03F-8B8E-1548-18C7-DF3A1FC390D1}"/>
              </a:ext>
            </a:extLst>
          </p:cNvPr>
          <p:cNvSpPr/>
          <p:nvPr/>
        </p:nvSpPr>
        <p:spPr>
          <a:xfrm>
            <a:off x="10607040" y="-914400"/>
            <a:ext cx="2743200" cy="2743200"/>
          </a:xfrm>
          <a:prstGeom prst="ellipse">
            <a:avLst/>
          </a:prstGeom>
          <a:solidFill>
            <a:srgbClr val="00A896">
              <a:alpha val="30000"/>
            </a:srgbClr>
          </a:solidFill>
          <a:ln/>
        </p:spPr>
        <p:txBody>
          <a:bodyPr/>
          <a:lstStyle/>
          <a:p>
            <a:endParaRPr lang="en-IN"/>
          </a:p>
        </p:txBody>
      </p:sp>
      <p:sp>
        <p:nvSpPr>
          <p:cNvPr id="4" name="Text 2">
            <a:extLst>
              <a:ext uri="{FF2B5EF4-FFF2-40B4-BE49-F238E27FC236}">
                <a16:creationId xmlns:a16="http://schemas.microsoft.com/office/drawing/2014/main" id="{B84030F2-6DF4-C5EC-EBFB-7CD2B1DC254E}"/>
              </a:ext>
            </a:extLst>
          </p:cNvPr>
          <p:cNvSpPr/>
          <p:nvPr/>
        </p:nvSpPr>
        <p:spPr>
          <a:xfrm>
            <a:off x="822960" y="292608"/>
            <a:ext cx="10515600" cy="1188720"/>
          </a:xfrm>
          <a:prstGeom prst="rect">
            <a:avLst/>
          </a:prstGeom>
          <a:noFill/>
          <a:ln/>
        </p:spPr>
        <p:txBody>
          <a:bodyPr wrap="square" lIns="0" tIns="0" rIns="0" bIns="0" rtlCol="0" anchor="ctr"/>
          <a:lstStyle/>
          <a:p>
            <a:pPr marL="0" indent="0">
              <a:lnSpc>
                <a:spcPct val="105000"/>
              </a:lnSpc>
              <a:buNone/>
            </a:pPr>
            <a:r>
              <a:rPr lang="en-US" sz="2400" b="1" dirty="0">
                <a:solidFill>
                  <a:srgbClr val="FFFFFF"/>
                </a:solidFill>
                <a:latin typeface="Cambria" pitchFamily="34" charset="0"/>
                <a:ea typeface="Cambria" pitchFamily="34" charset="-122"/>
                <a:cs typeface="Cambria" pitchFamily="34" charset="-120"/>
              </a:rPr>
              <a:t>Generative AI-Driven Question Paper Analysis</a:t>
            </a:r>
            <a:endParaRPr lang="en-US" sz="2400" dirty="0"/>
          </a:p>
          <a:p>
            <a:pPr marL="0" indent="0">
              <a:lnSpc>
                <a:spcPct val="105000"/>
              </a:lnSpc>
              <a:buNone/>
            </a:pPr>
            <a:r>
              <a:rPr lang="en-US" sz="2400" b="1" dirty="0">
                <a:solidFill>
                  <a:srgbClr val="FFFFFF"/>
                </a:solidFill>
                <a:latin typeface="Cambria" pitchFamily="34" charset="0"/>
                <a:ea typeface="Cambria" pitchFamily="34" charset="-122"/>
                <a:cs typeface="Cambria" pitchFamily="34" charset="-120"/>
              </a:rPr>
              <a:t>and Exam Trend Forecasting System</a:t>
            </a:r>
            <a:endParaRPr lang="en-US" sz="2400" dirty="0"/>
          </a:p>
        </p:txBody>
      </p:sp>
      <p:sp>
        <p:nvSpPr>
          <p:cNvPr id="5" name="Text 3">
            <a:extLst>
              <a:ext uri="{FF2B5EF4-FFF2-40B4-BE49-F238E27FC236}">
                <a16:creationId xmlns:a16="http://schemas.microsoft.com/office/drawing/2014/main" id="{97735E86-A70E-7B3B-0172-75D654CAFF1D}"/>
              </a:ext>
            </a:extLst>
          </p:cNvPr>
          <p:cNvSpPr/>
          <p:nvPr/>
        </p:nvSpPr>
        <p:spPr>
          <a:xfrm>
            <a:off x="822960" y="1965960"/>
            <a:ext cx="4572000" cy="365760"/>
          </a:xfrm>
          <a:prstGeom prst="rect">
            <a:avLst/>
          </a:prstGeom>
          <a:noFill/>
          <a:ln/>
        </p:spPr>
        <p:txBody>
          <a:bodyPr wrap="square" lIns="0" tIns="0" rIns="0" bIns="0" rtlCol="0" anchor="ctr"/>
          <a:lstStyle/>
          <a:p>
            <a:pPr marL="0" indent="0">
              <a:buNone/>
            </a:pPr>
            <a:r>
              <a:rPr lang="en-US" sz="1400" b="1" kern="0" spc="300" dirty="0">
                <a:solidFill>
                  <a:srgbClr val="028090"/>
                </a:solidFill>
                <a:latin typeface="Calibri" pitchFamily="34" charset="0"/>
                <a:ea typeface="Calibri" pitchFamily="34" charset="-122"/>
                <a:cs typeface="Calibri" pitchFamily="34" charset="-120"/>
              </a:rPr>
              <a:t>ABSTRACT</a:t>
            </a:r>
            <a:endParaRPr lang="en-US" sz="1400" dirty="0"/>
          </a:p>
        </p:txBody>
      </p:sp>
      <p:sp>
        <p:nvSpPr>
          <p:cNvPr id="6" name="Text 4">
            <a:extLst>
              <a:ext uri="{FF2B5EF4-FFF2-40B4-BE49-F238E27FC236}">
                <a16:creationId xmlns:a16="http://schemas.microsoft.com/office/drawing/2014/main" id="{D40DA5A2-9DA5-63B9-1F5D-4E18E6B0E64C}"/>
              </a:ext>
            </a:extLst>
          </p:cNvPr>
          <p:cNvSpPr/>
          <p:nvPr/>
        </p:nvSpPr>
        <p:spPr>
          <a:xfrm>
            <a:off x="822960" y="2331720"/>
            <a:ext cx="10515600" cy="4206240"/>
          </a:xfrm>
          <a:prstGeom prst="rect">
            <a:avLst/>
          </a:prstGeom>
          <a:noFill/>
          <a:ln/>
        </p:spPr>
        <p:txBody>
          <a:bodyPr wrap="square" lIns="0" tIns="0" rIns="0" bIns="0" rtlCol="0" anchor="t"/>
          <a:lstStyle/>
          <a:p>
            <a:r>
              <a:rPr lang="en-IN" sz="1400" b="1" dirty="0"/>
              <a:t>Dataset</a:t>
            </a:r>
            <a:endParaRPr lang="en-IN" sz="1400" dirty="0"/>
          </a:p>
          <a:p>
            <a:r>
              <a:rPr lang="en-IN" sz="1400" b="1" dirty="0"/>
              <a:t>Source</a:t>
            </a:r>
            <a:r>
              <a:rPr lang="en-IN" sz="1400" dirty="0"/>
              <a:t>: Previous-year university/college examination question papers</a:t>
            </a:r>
          </a:p>
          <a:p>
            <a:r>
              <a:rPr lang="en-IN" sz="1400" b="1" dirty="0"/>
              <a:t>Data Collection:</a:t>
            </a:r>
            <a:endParaRPr lang="en-IN" sz="1400" dirty="0"/>
          </a:p>
          <a:p>
            <a:r>
              <a:rPr lang="en-IN" sz="1400" dirty="0"/>
              <a:t>Collect question papers from publicly available academic sources and institutional repositories. Digitize PDF/image-based papers using OCR where required. Organize questions by subject, academic year, unit/topic, question type and marks.</a:t>
            </a:r>
            <a:br>
              <a:rPr lang="en-IN" sz="1400" dirty="0"/>
            </a:br>
            <a:endParaRPr lang="en-IN" sz="1400" dirty="0"/>
          </a:p>
          <a:p>
            <a:r>
              <a:rPr lang="en-IN" sz="1400" b="1" dirty="0"/>
              <a:t>Technical Stack</a:t>
            </a:r>
            <a:endParaRPr lang="en-IN" sz="1400" dirty="0"/>
          </a:p>
          <a:p>
            <a:r>
              <a:rPr lang="en-IN" sz="1400" dirty="0"/>
              <a:t>Python, Pandas, NumPy – Data processing &amp; analysis, NLTK / </a:t>
            </a:r>
            <a:r>
              <a:rPr lang="en-IN" sz="1400" dirty="0" err="1"/>
              <a:t>spaCy</a:t>
            </a:r>
            <a:r>
              <a:rPr lang="en-IN" sz="1400" dirty="0"/>
              <a:t> – NLP preprocessing, Sentence Transformers / BERT – Semantic similarity &amp; topic representation, Scikit-learn – ML &amp; clustering, LLM / Generative AI – Question understanding &amp; study-material generation, </a:t>
            </a:r>
            <a:r>
              <a:rPr lang="en-IN" sz="1400" dirty="0" err="1"/>
              <a:t>Streamlit</a:t>
            </a:r>
            <a:r>
              <a:rPr lang="en-IN" sz="1400" dirty="0"/>
              <a:t> – Interactive application/dashboard, SQLite / MySQL – Dataset storage</a:t>
            </a:r>
          </a:p>
          <a:p>
            <a:br>
              <a:rPr lang="en-IN" sz="1400" b="1" dirty="0"/>
            </a:br>
            <a:r>
              <a:rPr lang="en-IN" sz="1400" b="1" dirty="0"/>
              <a:t>Expected Outcomes</a:t>
            </a:r>
          </a:p>
          <a:p>
            <a:pPr marL="285750" indent="-285750">
              <a:buFont typeface="Arial" panose="020B0604020202020204" pitchFamily="34" charset="0"/>
              <a:buChar char="•"/>
            </a:pPr>
            <a:r>
              <a:rPr lang="en-IN" sz="1400" dirty="0"/>
              <a:t>Automated extraction and categorization of questions.</a:t>
            </a:r>
          </a:p>
          <a:p>
            <a:pPr marL="285750" indent="-285750">
              <a:buFont typeface="Arial" panose="020B0604020202020204" pitchFamily="34" charset="0"/>
              <a:buChar char="•"/>
            </a:pPr>
            <a:r>
              <a:rPr lang="en-IN" sz="1400" dirty="0"/>
              <a:t>Identification of frequently recurring and emerging topics.</a:t>
            </a:r>
          </a:p>
          <a:p>
            <a:pPr marL="285750" indent="-285750">
              <a:buFont typeface="Arial" panose="020B0604020202020204" pitchFamily="34" charset="0"/>
              <a:buChar char="•"/>
            </a:pPr>
            <a:r>
              <a:rPr lang="en-IN" sz="1400" dirty="0"/>
              <a:t>Prediction of high-probability examination topics.</a:t>
            </a:r>
          </a:p>
          <a:p>
            <a:pPr marL="285750" indent="-285750">
              <a:buFont typeface="Arial" panose="020B0604020202020204" pitchFamily="34" charset="0"/>
              <a:buChar char="•"/>
            </a:pPr>
            <a:r>
              <a:rPr lang="en-IN" sz="1400" dirty="0"/>
              <a:t>Generation of focused revision material.</a:t>
            </a:r>
          </a:p>
          <a:p>
            <a:pPr marL="285750" indent="-285750">
              <a:buFont typeface="Arial" panose="020B0604020202020204" pitchFamily="34" charset="0"/>
              <a:buChar char="•"/>
            </a:pPr>
            <a:r>
              <a:rPr lang="en-IN" sz="1400" dirty="0"/>
              <a:t>Reduction in manual effort required for question-paper analysis.</a:t>
            </a:r>
          </a:p>
          <a:p>
            <a:br>
              <a:rPr lang="en-IN" sz="1400" dirty="0"/>
            </a:br>
            <a:endParaRPr lang="en-US" sz="1400" b="1" dirty="0"/>
          </a:p>
          <a:p>
            <a:br>
              <a:rPr lang="en-IN" sz="1400" dirty="0"/>
            </a:br>
            <a:endParaRPr lang="en-IN" sz="1400" dirty="0"/>
          </a:p>
          <a:p>
            <a:br>
              <a:rPr lang="en-IN" sz="1400" dirty="0"/>
            </a:br>
            <a:endParaRPr lang="en-IN" sz="1400" dirty="0"/>
          </a:p>
          <a:p>
            <a:br>
              <a:rPr lang="en-IN" sz="1400" dirty="0"/>
            </a:br>
            <a:endParaRPr lang="en-IN" sz="1400" dirty="0"/>
          </a:p>
          <a:p>
            <a:br>
              <a:rPr lang="en-IN" sz="1400" dirty="0"/>
            </a:br>
            <a:endParaRPr lang="en-IN" sz="1400" dirty="0"/>
          </a:p>
        </p:txBody>
      </p:sp>
    </p:spTree>
    <p:extLst>
      <p:ext uri="{BB962C8B-B14F-4D97-AF65-F5344CB8AC3E}">
        <p14:creationId xmlns:p14="http://schemas.microsoft.com/office/powerpoint/2010/main" val="40245680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2F7F6"/>
        </a:solidFill>
        <a:effectLst/>
      </p:bgPr>
    </p:bg>
    <p:spTree>
      <p:nvGrpSpPr>
        <p:cNvPr id="1" name="">
          <a:extLst>
            <a:ext uri="{FF2B5EF4-FFF2-40B4-BE49-F238E27FC236}">
              <a16:creationId xmlns:a16="http://schemas.microsoft.com/office/drawing/2014/main" id="{CFFC0457-889B-36EC-EEE1-81D213F3286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882C0CD-7250-F469-1329-BE39D30A4DF4}"/>
              </a:ext>
            </a:extLst>
          </p:cNvPr>
          <p:cNvSpPr/>
          <p:nvPr/>
        </p:nvSpPr>
        <p:spPr>
          <a:xfrm>
            <a:off x="0" y="0"/>
            <a:ext cx="12188952" cy="1737360"/>
          </a:xfrm>
          <a:prstGeom prst="rect">
            <a:avLst/>
          </a:prstGeom>
          <a:solidFill>
            <a:srgbClr val="028090"/>
          </a:solidFill>
          <a:ln/>
        </p:spPr>
        <p:txBody>
          <a:bodyPr/>
          <a:lstStyle/>
          <a:p>
            <a:endParaRPr lang="en-IN"/>
          </a:p>
        </p:txBody>
      </p:sp>
      <p:sp>
        <p:nvSpPr>
          <p:cNvPr id="3" name="Shape 1">
            <a:extLst>
              <a:ext uri="{FF2B5EF4-FFF2-40B4-BE49-F238E27FC236}">
                <a16:creationId xmlns:a16="http://schemas.microsoft.com/office/drawing/2014/main" id="{7574183B-5221-97AE-9CD5-E5953067B5FD}"/>
              </a:ext>
            </a:extLst>
          </p:cNvPr>
          <p:cNvSpPr/>
          <p:nvPr/>
        </p:nvSpPr>
        <p:spPr>
          <a:xfrm>
            <a:off x="10607040" y="-914400"/>
            <a:ext cx="2743200" cy="2743200"/>
          </a:xfrm>
          <a:prstGeom prst="ellipse">
            <a:avLst/>
          </a:prstGeom>
          <a:solidFill>
            <a:srgbClr val="00A896">
              <a:alpha val="30000"/>
            </a:srgbClr>
          </a:solidFill>
          <a:ln/>
        </p:spPr>
        <p:txBody>
          <a:bodyPr/>
          <a:lstStyle/>
          <a:p>
            <a:endParaRPr lang="en-IN"/>
          </a:p>
        </p:txBody>
      </p:sp>
      <p:sp>
        <p:nvSpPr>
          <p:cNvPr id="4" name="Text 2">
            <a:extLst>
              <a:ext uri="{FF2B5EF4-FFF2-40B4-BE49-F238E27FC236}">
                <a16:creationId xmlns:a16="http://schemas.microsoft.com/office/drawing/2014/main" id="{51AF9303-7110-FF16-ACC7-45676764D71D}"/>
              </a:ext>
            </a:extLst>
          </p:cNvPr>
          <p:cNvSpPr/>
          <p:nvPr/>
        </p:nvSpPr>
        <p:spPr>
          <a:xfrm>
            <a:off x="822960" y="292608"/>
            <a:ext cx="10515600" cy="1188720"/>
          </a:xfrm>
          <a:prstGeom prst="rect">
            <a:avLst/>
          </a:prstGeom>
          <a:noFill/>
          <a:ln/>
        </p:spPr>
        <p:txBody>
          <a:bodyPr wrap="square" lIns="0" tIns="0" rIns="0" bIns="0" rtlCol="0" anchor="ctr"/>
          <a:lstStyle/>
          <a:p>
            <a:pPr marL="0" indent="0">
              <a:lnSpc>
                <a:spcPct val="105000"/>
              </a:lnSpc>
              <a:buNone/>
            </a:pPr>
            <a:r>
              <a:rPr lang="en-GB" sz="2400" b="1" dirty="0">
                <a:solidFill>
                  <a:srgbClr val="FFFFFF"/>
                </a:solidFill>
                <a:latin typeface="Cambria" pitchFamily="34" charset="0"/>
                <a:ea typeface="Cambria" pitchFamily="34" charset="-122"/>
                <a:cs typeface="Cambria" pitchFamily="34" charset="-120"/>
              </a:rPr>
              <a:t>Agentic AI Framework for Autonomous Data Analysis and Insight Generation</a:t>
            </a:r>
            <a:endParaRPr lang="en-US" sz="2400" dirty="0"/>
          </a:p>
        </p:txBody>
      </p:sp>
      <p:sp>
        <p:nvSpPr>
          <p:cNvPr id="5" name="Text 3">
            <a:extLst>
              <a:ext uri="{FF2B5EF4-FFF2-40B4-BE49-F238E27FC236}">
                <a16:creationId xmlns:a16="http://schemas.microsoft.com/office/drawing/2014/main" id="{B202B573-37DD-A00B-F553-56CAF5050A18}"/>
              </a:ext>
            </a:extLst>
          </p:cNvPr>
          <p:cNvSpPr/>
          <p:nvPr/>
        </p:nvSpPr>
        <p:spPr>
          <a:xfrm>
            <a:off x="822960" y="1965960"/>
            <a:ext cx="4572000" cy="365760"/>
          </a:xfrm>
          <a:prstGeom prst="rect">
            <a:avLst/>
          </a:prstGeom>
          <a:noFill/>
          <a:ln/>
        </p:spPr>
        <p:txBody>
          <a:bodyPr wrap="square" lIns="0" tIns="0" rIns="0" bIns="0" rtlCol="0" anchor="ctr"/>
          <a:lstStyle/>
          <a:p>
            <a:pPr marL="0" indent="0">
              <a:buNone/>
            </a:pPr>
            <a:r>
              <a:rPr lang="en-US" sz="1400" b="1" kern="0" spc="300" dirty="0">
                <a:solidFill>
                  <a:srgbClr val="028090"/>
                </a:solidFill>
                <a:latin typeface="Calibri" pitchFamily="34" charset="0"/>
                <a:ea typeface="Calibri" pitchFamily="34" charset="-122"/>
                <a:cs typeface="Calibri" pitchFamily="34" charset="-120"/>
              </a:rPr>
              <a:t>ABSTRACT</a:t>
            </a:r>
            <a:endParaRPr lang="en-US" sz="1400" dirty="0"/>
          </a:p>
        </p:txBody>
      </p:sp>
      <p:sp>
        <p:nvSpPr>
          <p:cNvPr id="6" name="Text 4">
            <a:extLst>
              <a:ext uri="{FF2B5EF4-FFF2-40B4-BE49-F238E27FC236}">
                <a16:creationId xmlns:a16="http://schemas.microsoft.com/office/drawing/2014/main" id="{4FA18110-90EF-9BBA-BA62-72F3ED1491F5}"/>
              </a:ext>
            </a:extLst>
          </p:cNvPr>
          <p:cNvSpPr/>
          <p:nvPr/>
        </p:nvSpPr>
        <p:spPr>
          <a:xfrm>
            <a:off x="822960" y="2331720"/>
            <a:ext cx="10515600" cy="4206240"/>
          </a:xfrm>
          <a:prstGeom prst="rect">
            <a:avLst/>
          </a:prstGeom>
          <a:noFill/>
          <a:ln/>
        </p:spPr>
        <p:txBody>
          <a:bodyPr wrap="square" lIns="0" tIns="0" rIns="0" bIns="0" rtlCol="0" anchor="t"/>
          <a:lstStyle/>
          <a:p>
            <a:r>
              <a:rPr lang="en-IN" sz="1400" b="1" dirty="0"/>
              <a:t>Problem Statement</a:t>
            </a:r>
          </a:p>
          <a:p>
            <a:endParaRPr lang="en-IN" sz="1400" dirty="0"/>
          </a:p>
          <a:p>
            <a:r>
              <a:rPr lang="en-IN" sz="1400" dirty="0"/>
              <a:t>Data analysis typically requires users to manually perform multiple stages such as data cleaning, exploratory analysis, visualization, statistical analysis, and machine learning. Existing automated tools often rely on predefined workflows, requiring users to decide which analytical techniques should be applied. The system aims to develop an Agentic AI framework that can autonomously understand a dataset, plan an appropriate analysis workflow, execute analytical tasks using specialized agents/tools, and generate meaningful insights. The framework will enable adaptive and iterative data analysis based on intermediate results rather than following a fixed pipeline.</a:t>
            </a:r>
          </a:p>
          <a:p>
            <a:endParaRPr lang="en-IN" sz="1400" dirty="0"/>
          </a:p>
          <a:p>
            <a:r>
              <a:rPr lang="en-IN" sz="1400" b="1" dirty="0"/>
              <a:t>Objectives</a:t>
            </a:r>
          </a:p>
          <a:p>
            <a:endParaRPr lang="en-IN" sz="1400" dirty="0"/>
          </a:p>
          <a:p>
            <a:r>
              <a:rPr lang="en-GB" sz="1400" dirty="0"/>
              <a:t>1. Automatically profile and preprocess uploaded datasets by identifying data types, missing values, outliers, and quality issues.</a:t>
            </a:r>
          </a:p>
          <a:p>
            <a:r>
              <a:rPr lang="en-GB" sz="1400" dirty="0"/>
              <a:t>2. Dynamically plan an appropriate data-analysis workflow based on dataset characteristics and the user's analytical objective.</a:t>
            </a:r>
          </a:p>
          <a:p>
            <a:r>
              <a:rPr lang="en-GB" sz="1400" dirty="0"/>
              <a:t>3. Execute analytical tasks such as EDA, statistical analysis, visualization, and machine learning using specialized AI agents.</a:t>
            </a:r>
          </a:p>
          <a:p>
            <a:r>
              <a:rPr lang="en-GB" sz="1400" dirty="0"/>
              <a:t>4. Validate and refine analytical results through agent-based verification and iterative workflow execution.</a:t>
            </a:r>
          </a:p>
          <a:p>
            <a:r>
              <a:rPr lang="en-GB" sz="1400" dirty="0"/>
              <a:t>5. Generate an interpretable analytical report containing key findings, visualizations, model results, and actionable insights.</a:t>
            </a:r>
            <a:br>
              <a:rPr lang="en-IN" sz="1400" dirty="0"/>
            </a:br>
            <a:endParaRPr lang="en-IN" sz="1400" dirty="0"/>
          </a:p>
          <a:p>
            <a:br>
              <a:rPr lang="en-IN" sz="1400" dirty="0"/>
            </a:br>
            <a:endParaRPr lang="en-IN" sz="1400" dirty="0"/>
          </a:p>
          <a:p>
            <a:br>
              <a:rPr lang="en-IN" sz="1400" dirty="0"/>
            </a:br>
            <a:endParaRPr lang="en-IN" sz="1400" dirty="0"/>
          </a:p>
          <a:p>
            <a:br>
              <a:rPr lang="en-IN" sz="1400" dirty="0"/>
            </a:br>
            <a:endParaRPr lang="en-IN" sz="1400" dirty="0"/>
          </a:p>
        </p:txBody>
      </p:sp>
    </p:spTree>
    <p:extLst>
      <p:ext uri="{BB962C8B-B14F-4D97-AF65-F5344CB8AC3E}">
        <p14:creationId xmlns:p14="http://schemas.microsoft.com/office/powerpoint/2010/main" val="3245604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2F7F6"/>
        </a:solidFill>
        <a:effectLst/>
      </p:bgPr>
    </p:bg>
    <p:spTree>
      <p:nvGrpSpPr>
        <p:cNvPr id="1" name="">
          <a:extLst>
            <a:ext uri="{FF2B5EF4-FFF2-40B4-BE49-F238E27FC236}">
              <a16:creationId xmlns:a16="http://schemas.microsoft.com/office/drawing/2014/main" id="{51057D74-F382-03D0-D766-A0A298CC398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C25BA04-64B5-91A7-218B-7CE96DD01A72}"/>
              </a:ext>
            </a:extLst>
          </p:cNvPr>
          <p:cNvSpPr/>
          <p:nvPr/>
        </p:nvSpPr>
        <p:spPr>
          <a:xfrm>
            <a:off x="0" y="0"/>
            <a:ext cx="12188952" cy="1737360"/>
          </a:xfrm>
          <a:prstGeom prst="rect">
            <a:avLst/>
          </a:prstGeom>
          <a:solidFill>
            <a:srgbClr val="028090"/>
          </a:solidFill>
          <a:ln/>
        </p:spPr>
        <p:txBody>
          <a:bodyPr/>
          <a:lstStyle/>
          <a:p>
            <a:endParaRPr lang="en-IN"/>
          </a:p>
        </p:txBody>
      </p:sp>
      <p:sp>
        <p:nvSpPr>
          <p:cNvPr id="3" name="Shape 1">
            <a:extLst>
              <a:ext uri="{FF2B5EF4-FFF2-40B4-BE49-F238E27FC236}">
                <a16:creationId xmlns:a16="http://schemas.microsoft.com/office/drawing/2014/main" id="{241C483D-6B70-F2C7-ABC9-9B28D25D1936}"/>
              </a:ext>
            </a:extLst>
          </p:cNvPr>
          <p:cNvSpPr/>
          <p:nvPr/>
        </p:nvSpPr>
        <p:spPr>
          <a:xfrm>
            <a:off x="10607040" y="-914400"/>
            <a:ext cx="2743200" cy="2743200"/>
          </a:xfrm>
          <a:prstGeom prst="ellipse">
            <a:avLst/>
          </a:prstGeom>
          <a:solidFill>
            <a:srgbClr val="00A896">
              <a:alpha val="30000"/>
            </a:srgbClr>
          </a:solidFill>
          <a:ln/>
        </p:spPr>
        <p:txBody>
          <a:bodyPr/>
          <a:lstStyle/>
          <a:p>
            <a:endParaRPr lang="en-IN"/>
          </a:p>
        </p:txBody>
      </p:sp>
      <p:sp>
        <p:nvSpPr>
          <p:cNvPr id="4" name="Text 2">
            <a:extLst>
              <a:ext uri="{FF2B5EF4-FFF2-40B4-BE49-F238E27FC236}">
                <a16:creationId xmlns:a16="http://schemas.microsoft.com/office/drawing/2014/main" id="{AF12756B-5931-674F-3D75-EB2AECC797FD}"/>
              </a:ext>
            </a:extLst>
          </p:cNvPr>
          <p:cNvSpPr/>
          <p:nvPr/>
        </p:nvSpPr>
        <p:spPr>
          <a:xfrm>
            <a:off x="822960" y="292608"/>
            <a:ext cx="10515600" cy="1188720"/>
          </a:xfrm>
          <a:prstGeom prst="rect">
            <a:avLst/>
          </a:prstGeom>
          <a:noFill/>
          <a:ln/>
        </p:spPr>
        <p:txBody>
          <a:bodyPr wrap="square" lIns="0" tIns="0" rIns="0" bIns="0" rtlCol="0" anchor="ctr"/>
          <a:lstStyle/>
          <a:p>
            <a:pPr>
              <a:lnSpc>
                <a:spcPct val="105000"/>
              </a:lnSpc>
            </a:pPr>
            <a:r>
              <a:rPr lang="en-GB" sz="2400" b="1" dirty="0">
                <a:solidFill>
                  <a:srgbClr val="FFFFFF"/>
                </a:solidFill>
                <a:latin typeface="Cambria" pitchFamily="34" charset="0"/>
                <a:ea typeface="Cambria" pitchFamily="34" charset="-122"/>
                <a:cs typeface="Cambria" pitchFamily="34" charset="-120"/>
              </a:rPr>
              <a:t>Agentic AI Framework for Autonomous Data Analysis and Insight Generation</a:t>
            </a:r>
            <a:endParaRPr lang="en-US" sz="2400" dirty="0"/>
          </a:p>
        </p:txBody>
      </p:sp>
      <p:sp>
        <p:nvSpPr>
          <p:cNvPr id="5" name="Text 3">
            <a:extLst>
              <a:ext uri="{FF2B5EF4-FFF2-40B4-BE49-F238E27FC236}">
                <a16:creationId xmlns:a16="http://schemas.microsoft.com/office/drawing/2014/main" id="{93F35110-87DC-C810-8718-BEECDFBF6887}"/>
              </a:ext>
            </a:extLst>
          </p:cNvPr>
          <p:cNvSpPr/>
          <p:nvPr/>
        </p:nvSpPr>
        <p:spPr>
          <a:xfrm>
            <a:off x="822960" y="1965960"/>
            <a:ext cx="4572000" cy="365760"/>
          </a:xfrm>
          <a:prstGeom prst="rect">
            <a:avLst/>
          </a:prstGeom>
          <a:noFill/>
          <a:ln/>
        </p:spPr>
        <p:txBody>
          <a:bodyPr wrap="square" lIns="0" tIns="0" rIns="0" bIns="0" rtlCol="0" anchor="ctr"/>
          <a:lstStyle/>
          <a:p>
            <a:pPr marL="0" indent="0">
              <a:buNone/>
            </a:pPr>
            <a:r>
              <a:rPr lang="en-US" sz="1400" b="1" kern="0" spc="300" dirty="0">
                <a:solidFill>
                  <a:srgbClr val="028090"/>
                </a:solidFill>
                <a:latin typeface="Calibri" pitchFamily="34" charset="0"/>
                <a:ea typeface="Calibri" pitchFamily="34" charset="-122"/>
                <a:cs typeface="Calibri" pitchFamily="34" charset="-120"/>
              </a:rPr>
              <a:t>ABSTRACT</a:t>
            </a:r>
            <a:endParaRPr lang="en-US" sz="1400" dirty="0"/>
          </a:p>
        </p:txBody>
      </p:sp>
      <p:sp>
        <p:nvSpPr>
          <p:cNvPr id="6" name="Text 4">
            <a:extLst>
              <a:ext uri="{FF2B5EF4-FFF2-40B4-BE49-F238E27FC236}">
                <a16:creationId xmlns:a16="http://schemas.microsoft.com/office/drawing/2014/main" id="{B58536C9-C2D9-4489-37B1-86A69E50DB4B}"/>
              </a:ext>
            </a:extLst>
          </p:cNvPr>
          <p:cNvSpPr/>
          <p:nvPr/>
        </p:nvSpPr>
        <p:spPr>
          <a:xfrm>
            <a:off x="822960" y="2331720"/>
            <a:ext cx="10515600" cy="4526280"/>
          </a:xfrm>
          <a:prstGeom prst="rect">
            <a:avLst/>
          </a:prstGeom>
          <a:noFill/>
          <a:ln/>
        </p:spPr>
        <p:txBody>
          <a:bodyPr wrap="square" lIns="0" tIns="0" rIns="0" bIns="0" rtlCol="0" anchor="t"/>
          <a:lstStyle/>
          <a:p>
            <a:r>
              <a:rPr lang="en-IN" sz="1400" b="1" dirty="0"/>
              <a:t>Dataset</a:t>
            </a:r>
            <a:br>
              <a:rPr lang="en-IN" sz="1400" dirty="0"/>
            </a:br>
            <a:r>
              <a:rPr lang="en-IN" sz="1400" b="1" dirty="0"/>
              <a:t>Source</a:t>
            </a:r>
            <a:r>
              <a:rPr lang="en-IN" sz="1400" dirty="0"/>
              <a:t>: Publicly available structured datasets from repositories such as Kaggle, UCI Machine Learning Repository, and government/open-data portals.</a:t>
            </a:r>
          </a:p>
          <a:p>
            <a:r>
              <a:rPr lang="en-IN" sz="1400" b="1" dirty="0"/>
              <a:t>Data Collection:</a:t>
            </a:r>
            <a:endParaRPr lang="en-IN" sz="1400" dirty="0"/>
          </a:p>
          <a:p>
            <a:r>
              <a:rPr lang="en-IN" sz="1400" dirty="0"/>
              <a:t>Multiple datasets representing different Data Science tasks will be collected.</a:t>
            </a:r>
          </a:p>
          <a:p>
            <a:r>
              <a:rPr lang="en-IN" sz="1400" dirty="0"/>
              <a:t>Datasets will include tabular data with numerical and categorical attributes.</a:t>
            </a:r>
          </a:p>
          <a:p>
            <a:br>
              <a:rPr lang="en-IN" sz="1400" dirty="0"/>
            </a:br>
            <a:r>
              <a:rPr lang="en-IN" sz="1400" b="1" dirty="0"/>
              <a:t>Technical Stack</a:t>
            </a:r>
            <a:endParaRPr lang="en-IN" sz="1400" dirty="0"/>
          </a:p>
          <a:p>
            <a:r>
              <a:rPr lang="en-IN" sz="1400" dirty="0"/>
              <a:t>Python – Core development, Pandas / NumPy – Data processing, Scikit-learn – ML algorithms &amp; evaluation, Matplotlib / </a:t>
            </a:r>
            <a:r>
              <a:rPr lang="en-IN" sz="1400" dirty="0" err="1"/>
              <a:t>Plotly</a:t>
            </a:r>
            <a:r>
              <a:rPr lang="en-IN" sz="1400" dirty="0"/>
              <a:t> – Visualization, LLM – Reasoning, planning &amp; natural-language interpretation, </a:t>
            </a:r>
            <a:r>
              <a:rPr lang="en-IN" sz="1400" dirty="0" err="1"/>
              <a:t>LangGraph</a:t>
            </a:r>
            <a:r>
              <a:rPr lang="en-IN" sz="1400" dirty="0"/>
              <a:t> / </a:t>
            </a:r>
            <a:r>
              <a:rPr lang="en-IN" sz="1400" dirty="0" err="1"/>
              <a:t>LangChain</a:t>
            </a:r>
            <a:r>
              <a:rPr lang="en-IN" sz="1400" dirty="0"/>
              <a:t> – Agent orchestration, Specialized AI Agents – Profiling, EDA, </a:t>
            </a:r>
            <a:r>
              <a:rPr lang="en-IN" sz="1400" dirty="0" err="1"/>
              <a:t>modeling</a:t>
            </a:r>
            <a:r>
              <a:rPr lang="en-IN" sz="1400" dirty="0"/>
              <a:t>, visualization &amp; validation, SQLite / PostgreSQL – Dataset and analysis metadata, </a:t>
            </a:r>
            <a:r>
              <a:rPr lang="en-IN" sz="1400" dirty="0" err="1"/>
              <a:t>Streamlit</a:t>
            </a:r>
            <a:r>
              <a:rPr lang="en-IN" sz="1400" dirty="0"/>
              <a:t> – Interactive interface</a:t>
            </a:r>
          </a:p>
          <a:p>
            <a:br>
              <a:rPr lang="en-IN" sz="1400" b="1" dirty="0"/>
            </a:br>
            <a:r>
              <a:rPr lang="en-IN" sz="1400" b="1" dirty="0"/>
              <a:t>Expected Outcomes</a:t>
            </a:r>
          </a:p>
          <a:p>
            <a:pPr marL="285750" indent="-285750">
              <a:buFont typeface="Arial" panose="020B0604020202020204" pitchFamily="34" charset="0"/>
              <a:buChar char="•"/>
            </a:pPr>
            <a:r>
              <a:rPr lang="en-IN" sz="1400" dirty="0"/>
              <a:t>Autonomous generation of dataset-specific analysis workflows.</a:t>
            </a:r>
          </a:p>
          <a:p>
            <a:pPr marL="285750" indent="-285750">
              <a:buFont typeface="Arial" panose="020B0604020202020204" pitchFamily="34" charset="0"/>
              <a:buChar char="•"/>
            </a:pPr>
            <a:r>
              <a:rPr lang="en-IN" sz="1400" dirty="0"/>
              <a:t>Automated execution of EDA, visualization, statistical analysis and ML tasks.</a:t>
            </a:r>
          </a:p>
          <a:p>
            <a:pPr marL="285750" indent="-285750">
              <a:buFont typeface="Arial" panose="020B0604020202020204" pitchFamily="34" charset="0"/>
              <a:buChar char="•"/>
            </a:pPr>
            <a:r>
              <a:rPr lang="en-IN" sz="1400" dirty="0"/>
              <a:t>Agent-based validation and refinement of analytical results.</a:t>
            </a:r>
          </a:p>
          <a:p>
            <a:pPr marL="285750" indent="-285750">
              <a:buFont typeface="Arial" panose="020B0604020202020204" pitchFamily="34" charset="0"/>
              <a:buChar char="•"/>
            </a:pPr>
            <a:r>
              <a:rPr lang="en-IN" sz="1400" dirty="0"/>
              <a:t>Generation of an interpretable, structured data-analysis report. </a:t>
            </a:r>
          </a:p>
          <a:p>
            <a:pPr marL="285750" indent="-285750">
              <a:buFont typeface="Arial" panose="020B0604020202020204" pitchFamily="34" charset="0"/>
              <a:buChar char="•"/>
            </a:pPr>
            <a:r>
              <a:rPr lang="en-IN" sz="1400" dirty="0"/>
              <a:t>Demonstration that an agentic workflow can reduce manual intervention and analysis time compared with a conventional fixed pipeline.</a:t>
            </a:r>
          </a:p>
          <a:p>
            <a:br>
              <a:rPr lang="en-IN" sz="1400" dirty="0"/>
            </a:br>
            <a:br>
              <a:rPr lang="en-IN" sz="1400" dirty="0"/>
            </a:br>
            <a:endParaRPr lang="en-US" sz="1400" b="1" dirty="0"/>
          </a:p>
          <a:p>
            <a:br>
              <a:rPr lang="en-IN" sz="1400" dirty="0"/>
            </a:br>
            <a:endParaRPr lang="en-IN" sz="1400" dirty="0"/>
          </a:p>
          <a:p>
            <a:br>
              <a:rPr lang="en-IN" sz="1400" dirty="0"/>
            </a:br>
            <a:endParaRPr lang="en-IN" sz="1400" dirty="0"/>
          </a:p>
          <a:p>
            <a:br>
              <a:rPr lang="en-IN" sz="1400" dirty="0"/>
            </a:br>
            <a:endParaRPr lang="en-IN" sz="1400" dirty="0"/>
          </a:p>
          <a:p>
            <a:br>
              <a:rPr lang="en-IN" sz="1400" dirty="0"/>
            </a:br>
            <a:endParaRPr lang="en-IN" sz="1400" dirty="0"/>
          </a:p>
        </p:txBody>
      </p:sp>
    </p:spTree>
    <p:extLst>
      <p:ext uri="{BB962C8B-B14F-4D97-AF65-F5344CB8AC3E}">
        <p14:creationId xmlns:p14="http://schemas.microsoft.com/office/powerpoint/2010/main" val="18719268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TotalTime>
  <Words>766</Words>
  <Application>Microsoft Office PowerPoint</Application>
  <PresentationFormat>Widescreen</PresentationFormat>
  <Paragraphs>83</Paragraphs>
  <Slides>5</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Sanjay Karthick S</cp:lastModifiedBy>
  <cp:revision>8</cp:revision>
  <dcterms:created xsi:type="dcterms:W3CDTF">2026-08-23T15:32:27Z</dcterms:created>
  <dcterms:modified xsi:type="dcterms:W3CDTF">2026-08-27T09:32:03Z</dcterms:modified>
</cp:coreProperties>
</file>