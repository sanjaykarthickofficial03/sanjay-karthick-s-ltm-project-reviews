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  <p:sldId id="2147470501" r:id="rId11"/>
    <p:sldId id="2147470502" r:id="rId12"/>
    <p:sldId id="2147470503" r:id="rId13"/>
    <p:sldId id="2147470504" r:id="rId14"/>
    <p:sldId id="2147470505" r:id="rId15"/>
    <p:sldId id="2147470506" r:id="rId16"/>
    <p:sldId id="2147470507" r:id="rId17"/>
    <p:sldId id="2147470508" r:id="rId18"/>
    <p:sldId id="214747050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itle block"/>
          <p:cNvSpPr txBox="1"/>
          <p:nvPr/>
        </p:nvSpPr>
        <p:spPr>
          <a:xfrm>
            <a:off x="180236" y="1900000"/>
            <a:ext cx="11428184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FFFFFF"/>
                </a:solidFill>
                <a:latin typeface="Calibri"/>
                <a:cs typeface="Calibri"/>
              </a:rPr>
              <a:t>Review II   |   Project 1</a:t>
            </a:r>
          </a:p>
          <a:p>
            <a:pPr marL="0" indent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 Using Semantic Representation and Temporal Forecasting</a:t>
            </a:r>
          </a:p>
          <a:p>
            <a:pPr marL="0" indent="0" algn="ctr">
              <a:spcBef>
                <a:spcPts val="260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Team Member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Sanjay Karthick S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251011013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endParaRPr lang="en-US" sz="26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Introduction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11300000" cy="90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50000" y="1670000"/>
            <a:ext cx="560000" cy="5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3" name="Icon FaBoo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00" y="1804400"/>
            <a:ext cx="291200" cy="2912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1400000" y="1500000"/>
            <a:ext cx="101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Examination papers contain valuable historical information about topic recurrence and evolution.</a:t>
            </a:r>
          </a:p>
        </p:txBody>
      </p:sp>
      <p:sp>
        <p:nvSpPr>
          <p:cNvPr id="25" name="Card"/>
          <p:cNvSpPr/>
          <p:nvPr/>
        </p:nvSpPr>
        <p:spPr>
          <a:xfrm>
            <a:off x="450000" y="2650000"/>
            <a:ext cx="5400000" cy="2850000"/>
          </a:xfrm>
          <a:prstGeom prst="roundRect">
            <a:avLst>
              <a:gd name="adj" fmla="val 6000"/>
            </a:avLst>
          </a:prstGeom>
          <a:solidFill>
            <a:srgbClr val="E6ED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Text"/>
          <p:cNvSpPr txBox="1"/>
          <p:nvPr/>
        </p:nvSpPr>
        <p:spPr>
          <a:xfrm>
            <a:off x="710000" y="2750000"/>
            <a:ext cx="4880000" cy="2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Limits of conventional analysis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43B53"/>
                </a:solidFill>
                <a:latin typeface="Calibri"/>
                <a:cs typeface="Calibri"/>
              </a:rPr>
              <a:t>Relies mainly on manual inspection and frequency-based counting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43B53"/>
                </a:solidFill>
                <a:latin typeface="Calibri"/>
                <a:cs typeface="Calibri"/>
              </a:rPr>
              <a:t>Frequency alone may miss questions with similar meaning but different wording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43B53"/>
                </a:solidFill>
                <a:latin typeface="Calibri"/>
                <a:cs typeface="Calibri"/>
              </a:rPr>
              <a:t>Does not adequately capture recency, recurrence and temporal trends</a:t>
            </a:r>
          </a:p>
        </p:txBody>
      </p:sp>
      <p:sp>
        <p:nvSpPr>
          <p:cNvPr id="27" name="Arrow"/>
          <p:cNvSpPr/>
          <p:nvPr/>
        </p:nvSpPr>
        <p:spPr>
          <a:xfrm>
            <a:off x="5920000" y="3855000"/>
            <a:ext cx="360000" cy="44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8" name="Card"/>
          <p:cNvSpPr/>
          <p:nvPr/>
        </p:nvSpPr>
        <p:spPr>
          <a:xfrm>
            <a:off x="6350000" y="2650000"/>
            <a:ext cx="5400000" cy="285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Text"/>
          <p:cNvSpPr txBox="1"/>
          <p:nvPr/>
        </p:nvSpPr>
        <p:spPr>
          <a:xfrm>
            <a:off x="6610000" y="2830000"/>
            <a:ext cx="488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Calibri"/>
                <a:cs typeface="Calibri"/>
              </a:rPr>
              <a:t>Proposed framework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610000" y="3290000"/>
            <a:ext cx="488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Combines semantic representations with temporal modeling</a:t>
            </a:r>
          </a:p>
        </p:txBody>
      </p:sp>
      <p:sp>
        <p:nvSpPr>
          <p:cNvPr id="31" name="Shape 31"/>
          <p:cNvSpPr/>
          <p:nvPr/>
        </p:nvSpPr>
        <p:spPr>
          <a:xfrm>
            <a:off x="6610000" y="3970000"/>
            <a:ext cx="2150000" cy="56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Semantic embeddings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760000" y="3970000"/>
            <a:ext cx="44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</a:p>
        </p:txBody>
      </p:sp>
      <p:sp>
        <p:nvSpPr>
          <p:cNvPr id="33" name="Shape 33"/>
          <p:cNvSpPr/>
          <p:nvPr/>
        </p:nvSpPr>
        <p:spPr>
          <a:xfrm>
            <a:off x="9200000" y="3970000"/>
            <a:ext cx="2050000" cy="56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Temporal modeling</a:t>
            </a:r>
          </a:p>
        </p:txBody>
      </p:sp>
      <p:sp>
        <p:nvSpPr>
          <p:cNvPr id="34" name="Shape 34"/>
          <p:cNvSpPr/>
          <p:nvPr/>
        </p:nvSpPr>
        <p:spPr>
          <a:xfrm>
            <a:off x="6610000" y="4700000"/>
            <a:ext cx="4880000" cy="580000"/>
          </a:xfrm>
          <a:prstGeom prst="roundRect">
            <a:avLst>
              <a:gd name="adj" fmla="val 30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Forecasts topics, not exact future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Objective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5500000" cy="12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50000" y="1795000"/>
            <a:ext cx="660000" cy="6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530000" y="1560000"/>
            <a:ext cx="4250000" cy="1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Extract &amp; structure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Extract and structure questions from multi-year examination papers.</a:t>
            </a:r>
          </a:p>
        </p:txBody>
      </p:sp>
      <p:sp>
        <p:nvSpPr>
          <p:cNvPr id="24" name="Card"/>
          <p:cNvSpPr/>
          <p:nvPr/>
        </p:nvSpPr>
        <p:spPr>
          <a:xfrm>
            <a:off x="6250000" y="1500000"/>
            <a:ext cx="5500000" cy="12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5" name="Badge"/>
          <p:cNvSpPr/>
          <p:nvPr/>
        </p:nvSpPr>
        <p:spPr>
          <a:xfrm>
            <a:off x="6450000" y="1795000"/>
            <a:ext cx="660000" cy="66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7330000" y="1560000"/>
            <a:ext cx="4250000" cy="1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Semantic representation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Represent questions using semantic embeddings to identify conceptually related questions.</a:t>
            </a:r>
          </a:p>
        </p:txBody>
      </p:sp>
      <p:sp>
        <p:nvSpPr>
          <p:cNvPr id="27" name="Card"/>
          <p:cNvSpPr/>
          <p:nvPr/>
        </p:nvSpPr>
        <p:spPr>
          <a:xfrm>
            <a:off x="450000" y="2950000"/>
            <a:ext cx="5500000" cy="12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8" name="Badge"/>
          <p:cNvSpPr/>
          <p:nvPr/>
        </p:nvSpPr>
        <p:spPr>
          <a:xfrm>
            <a:off x="650000" y="3245000"/>
            <a:ext cx="660000" cy="6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530000" y="3010000"/>
            <a:ext cx="4250000" cy="1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Topic behaviour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Model topic behaviour using frequency, recurrence, recency and temporal trends.</a:t>
            </a:r>
          </a:p>
        </p:txBody>
      </p:sp>
      <p:sp>
        <p:nvSpPr>
          <p:cNvPr id="30" name="Card"/>
          <p:cNvSpPr/>
          <p:nvPr/>
        </p:nvSpPr>
        <p:spPr>
          <a:xfrm>
            <a:off x="6250000" y="2950000"/>
            <a:ext cx="5500000" cy="12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1" name="Badge"/>
          <p:cNvSpPr/>
          <p:nvPr/>
        </p:nvSpPr>
        <p:spPr>
          <a:xfrm>
            <a:off x="6450000" y="3245000"/>
            <a:ext cx="660000" cy="66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330000" y="3010000"/>
            <a:ext cx="4250000" cy="1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Top-K forecasting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Forecast and rank Top-K likely future examination topics.</a:t>
            </a:r>
          </a:p>
        </p:txBody>
      </p:sp>
      <p:sp>
        <p:nvSpPr>
          <p:cNvPr id="33" name="Card"/>
          <p:cNvSpPr/>
          <p:nvPr/>
        </p:nvSpPr>
        <p:spPr>
          <a:xfrm>
            <a:off x="450000" y="4400000"/>
            <a:ext cx="5500000" cy="12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Badge"/>
          <p:cNvSpPr/>
          <p:nvPr/>
        </p:nvSpPr>
        <p:spPr>
          <a:xfrm>
            <a:off x="650000" y="4695000"/>
            <a:ext cx="660000" cy="66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530000" y="4460000"/>
            <a:ext cx="4250000" cy="1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Explainability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Provide evidence-based explanations for topic predictions.</a:t>
            </a:r>
          </a:p>
        </p:txBody>
      </p:sp>
      <p:sp>
        <p:nvSpPr>
          <p:cNvPr id="36" name="Card"/>
          <p:cNvSpPr/>
          <p:nvPr/>
        </p:nvSpPr>
        <p:spPr>
          <a:xfrm>
            <a:off x="6250000" y="4400000"/>
            <a:ext cx="5500000" cy="12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7" name="Badge"/>
          <p:cNvSpPr/>
          <p:nvPr/>
        </p:nvSpPr>
        <p:spPr>
          <a:xfrm>
            <a:off x="6450000" y="4695000"/>
            <a:ext cx="660000" cy="660000"/>
          </a:xfrm>
          <a:prstGeom prst="ellipse">
            <a:avLst/>
          </a:prstGeom>
          <a:solidFill>
            <a:srgbClr val="0E7F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7330000" y="4460000"/>
            <a:ext cx="4250000" cy="1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Evaluation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Evaluate using chronological back-testing against baseline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Modules to Cover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50000" y="1690000"/>
            <a:ext cx="600000" cy="6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3" name="Icon FaFile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00" y="1834000"/>
            <a:ext cx="312000" cy="3120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1400000" y="16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Data Ingestion &amp; OCR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80000" y="24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PDF text extraction with OCR fallback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Question segmentation and year metadata</a:t>
            </a:r>
          </a:p>
        </p:txBody>
      </p:sp>
      <p:sp>
        <p:nvSpPr>
          <p:cNvPr id="26" name="Card"/>
          <p:cNvSpPr/>
          <p:nvPr/>
        </p:nvSpPr>
        <p:spPr>
          <a:xfrm>
            <a:off x="4300000" y="15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7" name="Badge"/>
          <p:cNvSpPr/>
          <p:nvPr/>
        </p:nvSpPr>
        <p:spPr>
          <a:xfrm>
            <a:off x="4500000" y="1690000"/>
            <a:ext cx="600000" cy="60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8" name="Icon FaProject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0" y="1834000"/>
            <a:ext cx="312000" cy="3120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5250000" y="16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Semantic Representation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530000" y="24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B5F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Sentence-BERT embeddings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B5F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Cosine-similarity topic mapping</a:t>
            </a:r>
          </a:p>
        </p:txBody>
      </p:sp>
      <p:sp>
        <p:nvSpPr>
          <p:cNvPr id="31" name="Card"/>
          <p:cNvSpPr/>
          <p:nvPr/>
        </p:nvSpPr>
        <p:spPr>
          <a:xfrm>
            <a:off x="8150000" y="15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2" name="Badge"/>
          <p:cNvSpPr/>
          <p:nvPr/>
        </p:nvSpPr>
        <p:spPr>
          <a:xfrm>
            <a:off x="8350000" y="1690000"/>
            <a:ext cx="600000" cy="60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3" name="Icon FaChart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000" y="1834000"/>
            <a:ext cx="312000" cy="312000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9100000" y="16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Temporal Topic Analysis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380000" y="24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7968A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Topic-year matrix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7968A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Frequency, recurrence, recency, trend</a:t>
            </a:r>
          </a:p>
        </p:txBody>
      </p:sp>
      <p:sp>
        <p:nvSpPr>
          <p:cNvPr id="36" name="Card"/>
          <p:cNvSpPr/>
          <p:nvPr/>
        </p:nvSpPr>
        <p:spPr>
          <a:xfrm>
            <a:off x="450000" y="37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7" name="Badge"/>
          <p:cNvSpPr/>
          <p:nvPr/>
        </p:nvSpPr>
        <p:spPr>
          <a:xfrm>
            <a:off x="650000" y="3890000"/>
            <a:ext cx="600000" cy="60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8" name="Icon FaTroph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00" y="4034000"/>
            <a:ext cx="312000" cy="312000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1400000" y="38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Forecasting &amp; Ranking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80000" y="46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A9E2F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Frequency and recency baselines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A9E2F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Top-K topics; RF / XGBoost planned</a:t>
            </a:r>
          </a:p>
        </p:txBody>
      </p:sp>
      <p:sp>
        <p:nvSpPr>
          <p:cNvPr id="41" name="Card"/>
          <p:cNvSpPr/>
          <p:nvPr/>
        </p:nvSpPr>
        <p:spPr>
          <a:xfrm>
            <a:off x="4300000" y="37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" name="Badge"/>
          <p:cNvSpPr/>
          <p:nvPr/>
        </p:nvSpPr>
        <p:spPr>
          <a:xfrm>
            <a:off x="4500000" y="3890000"/>
            <a:ext cx="600000" cy="6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3" name="Icon FaClipboard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000" y="4034000"/>
            <a:ext cx="312000" cy="312000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5250000" y="38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Explainability &amp; Evaluation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4530000" y="46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F4E79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Evidence-based topic explanations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F4E79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Chronological back-testing, P/R/F1/NDCG@K</a:t>
            </a:r>
          </a:p>
        </p:txBody>
      </p:sp>
      <p:sp>
        <p:nvSpPr>
          <p:cNvPr id="46" name="Card"/>
          <p:cNvSpPr/>
          <p:nvPr/>
        </p:nvSpPr>
        <p:spPr>
          <a:xfrm>
            <a:off x="8150000" y="37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7" name="Badge"/>
          <p:cNvSpPr/>
          <p:nvPr/>
        </p:nvSpPr>
        <p:spPr>
          <a:xfrm>
            <a:off x="8350000" y="3890000"/>
            <a:ext cx="600000" cy="600000"/>
          </a:xfrm>
          <a:prstGeom prst="ellipse">
            <a:avLst/>
          </a:prstGeom>
          <a:solidFill>
            <a:srgbClr val="0E7F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8" name="Icon FaDeskt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000" y="4034000"/>
            <a:ext cx="312000" cy="312000"/>
          </a:xfrm>
          <a:prstGeom prst="rect">
            <a:avLst/>
          </a:prstGeom>
        </p:spPr>
      </p:pic>
      <p:sp>
        <p:nvSpPr>
          <p:cNvPr id="49" name="Text"/>
          <p:cNvSpPr txBox="1"/>
          <p:nvPr/>
        </p:nvSpPr>
        <p:spPr>
          <a:xfrm>
            <a:off x="9100000" y="38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Research Dashboard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380000" y="46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0E7FA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Flask + React (Vite) + Recharts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0E7FA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Timeline, heatmap and Top-K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Methodology / Modeling Plan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3450000" cy="9025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00000" y="1701250"/>
            <a:ext cx="500000" cy="5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3" name="Icon FaProject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21250"/>
            <a:ext cx="260000" cy="2600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1230000" y="1540000"/>
            <a:ext cx="2550000" cy="82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Semantic layer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3B53"/>
                </a:solidFill>
                <a:latin typeface="Calibri"/>
                <a:cs typeface="Calibri"/>
              </a:rPr>
              <a:t>Sentence-BERT embeddings and cosine similarity map questions to syllabus topics</a:t>
            </a:r>
          </a:p>
        </p:txBody>
      </p:sp>
      <p:sp>
        <p:nvSpPr>
          <p:cNvPr id="25" name="Card"/>
          <p:cNvSpPr/>
          <p:nvPr/>
        </p:nvSpPr>
        <p:spPr>
          <a:xfrm>
            <a:off x="450000" y="2532500"/>
            <a:ext cx="3450000" cy="9025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Badge"/>
          <p:cNvSpPr/>
          <p:nvPr/>
        </p:nvSpPr>
        <p:spPr>
          <a:xfrm>
            <a:off x="600000" y="2733750"/>
            <a:ext cx="500000" cy="50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7" name="Icon FaChart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2853750"/>
            <a:ext cx="260000" cy="26000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1230000" y="2572500"/>
            <a:ext cx="2550000" cy="82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Temporal layer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3B53"/>
                </a:solidFill>
                <a:latin typeface="Calibri"/>
                <a:cs typeface="Calibri"/>
              </a:rPr>
              <a:t>Frequency, recurrence, recency and trend features for every topic</a:t>
            </a:r>
          </a:p>
        </p:txBody>
      </p:sp>
      <p:sp>
        <p:nvSpPr>
          <p:cNvPr id="29" name="Card"/>
          <p:cNvSpPr/>
          <p:nvPr/>
        </p:nvSpPr>
        <p:spPr>
          <a:xfrm>
            <a:off x="450000" y="3565000"/>
            <a:ext cx="3450000" cy="9025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600000" y="3766250"/>
            <a:ext cx="500000" cy="50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1" name="Icon FaTro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3886250"/>
            <a:ext cx="260000" cy="26000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1230000" y="3605000"/>
            <a:ext cx="2550000" cy="82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Forecast &amp; rank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3B53"/>
                </a:solidFill>
                <a:latin typeface="Calibri"/>
                <a:cs typeface="Calibri"/>
              </a:rPr>
              <a:t>Weighted scoring / ML model produces the Top-K likely topics</a:t>
            </a:r>
          </a:p>
        </p:txBody>
      </p:sp>
      <p:sp>
        <p:nvSpPr>
          <p:cNvPr id="33" name="Card"/>
          <p:cNvSpPr/>
          <p:nvPr/>
        </p:nvSpPr>
        <p:spPr>
          <a:xfrm>
            <a:off x="450000" y="4597500"/>
            <a:ext cx="3450000" cy="9025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Badge"/>
          <p:cNvSpPr/>
          <p:nvPr/>
        </p:nvSpPr>
        <p:spPr>
          <a:xfrm>
            <a:off x="600000" y="4798750"/>
            <a:ext cx="500000" cy="5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5" name="Icon FaClipboard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4918750"/>
            <a:ext cx="260000" cy="26000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1230000" y="4637500"/>
            <a:ext cx="2550000" cy="82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Explain &amp; validate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43B53"/>
                </a:solidFill>
                <a:latin typeface="Calibri"/>
                <a:cs typeface="Calibri"/>
              </a:rPr>
              <a:t>Historical evidence and chronological back-testing, scored with P/R/F1/NDCG@K</a:t>
            </a:r>
          </a:p>
        </p:txBody>
      </p:sp>
      <p:sp>
        <p:nvSpPr>
          <p:cNvPr id="37" name="Image frame"/>
          <p:cNvSpPr/>
          <p:nvPr/>
        </p:nvSpPr>
        <p:spPr>
          <a:xfrm>
            <a:off x="4310000" y="1380000"/>
            <a:ext cx="7480000" cy="5013333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CFE1EF"/>
            </a:solidFill>
          </a:ln>
          <a:effectLst>
            <a:outerShdw blurRad="76200" dist="19050" dir="5400000" algn="t" rotWithShape="0">
              <a:srgbClr val="1F4E79">
                <a:alpha val="16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8" name="Methodology diagram" descr="Methodology and modeling plan: ten-stage pipeline from input data to explainability and evalu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0000" y="1420000"/>
            <a:ext cx="7400000" cy="49333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Data Preprocessing &amp; EDA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5100000" cy="400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Text"/>
          <p:cNvSpPr txBox="1"/>
          <p:nvPr/>
        </p:nvSpPr>
        <p:spPr>
          <a:xfrm>
            <a:off x="700000" y="1630000"/>
            <a:ext cx="46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Data preprocessing</a:t>
            </a:r>
          </a:p>
        </p:txBody>
      </p:sp>
      <p:sp>
        <p:nvSpPr>
          <p:cNvPr id="23" name="Badge"/>
          <p:cNvSpPr/>
          <p:nvPr/>
        </p:nvSpPr>
        <p:spPr>
          <a:xfrm>
            <a:off x="700000" y="2320000"/>
            <a:ext cx="400000" cy="4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250000" y="2200000"/>
            <a:ext cx="405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Extract text using pypdf; Tesseract + Poppler when OCR is required</a:t>
            </a:r>
          </a:p>
        </p:txBody>
      </p:sp>
      <p:sp>
        <p:nvSpPr>
          <p:cNvPr id="25" name="Badge"/>
          <p:cNvSpPr/>
          <p:nvPr/>
        </p:nvSpPr>
        <p:spPr>
          <a:xfrm>
            <a:off x="700000" y="2960000"/>
            <a:ext cx="400000" cy="4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250000" y="2840000"/>
            <a:ext cx="405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Segment individual questions and normalize extracted text</a:t>
            </a:r>
          </a:p>
        </p:txBody>
      </p:sp>
      <p:sp>
        <p:nvSpPr>
          <p:cNvPr id="27" name="Badge"/>
          <p:cNvSpPr/>
          <p:nvPr/>
        </p:nvSpPr>
        <p:spPr>
          <a:xfrm>
            <a:off x="700000" y="3600000"/>
            <a:ext cx="400000" cy="4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250000" y="3480000"/>
            <a:ext cx="405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Preserve examination-year metadata</a:t>
            </a:r>
          </a:p>
        </p:txBody>
      </p:sp>
      <p:sp>
        <p:nvSpPr>
          <p:cNvPr id="29" name="Badge"/>
          <p:cNvSpPr/>
          <p:nvPr/>
        </p:nvSpPr>
        <p:spPr>
          <a:xfrm>
            <a:off x="700000" y="4240000"/>
            <a:ext cx="400000" cy="4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250000" y="4120000"/>
            <a:ext cx="405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Generate Sentence-BERT embeddings</a:t>
            </a:r>
          </a:p>
        </p:txBody>
      </p:sp>
      <p:sp>
        <p:nvSpPr>
          <p:cNvPr id="31" name="Badge"/>
          <p:cNvSpPr/>
          <p:nvPr/>
        </p:nvSpPr>
        <p:spPr>
          <a:xfrm>
            <a:off x="700000" y="4880000"/>
            <a:ext cx="400000" cy="4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250000" y="4760000"/>
            <a:ext cx="405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Flag questions that cannot be reliably mapped to a topic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850000" y="1500000"/>
            <a:ext cx="5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Exploratory data analysis</a:t>
            </a:r>
          </a:p>
        </p:txBody>
      </p:sp>
      <p:sp>
        <p:nvSpPr>
          <p:cNvPr id="34" name="Shape 34"/>
          <p:cNvSpPr/>
          <p:nvPr/>
        </p:nvSpPr>
        <p:spPr>
          <a:xfrm>
            <a:off x="5850000" y="200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E2F5F1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Topic frequency by year</a:t>
            </a:r>
          </a:p>
        </p:txBody>
      </p:sp>
      <p:sp>
        <p:nvSpPr>
          <p:cNvPr id="35" name="Shape 35"/>
          <p:cNvSpPr/>
          <p:nvPr/>
        </p:nvSpPr>
        <p:spPr>
          <a:xfrm>
            <a:off x="8900000" y="200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E2F5F1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Unit-wise topic distribution</a:t>
            </a:r>
          </a:p>
        </p:txBody>
      </p:sp>
      <p:sp>
        <p:nvSpPr>
          <p:cNvPr id="36" name="Shape 36"/>
          <p:cNvSpPr/>
          <p:nvPr/>
        </p:nvSpPr>
        <p:spPr>
          <a:xfrm>
            <a:off x="5850000" y="260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E2F5F1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Topic recurrence across years</a:t>
            </a:r>
          </a:p>
        </p:txBody>
      </p:sp>
      <p:sp>
        <p:nvSpPr>
          <p:cNvPr id="37" name="Shape 37"/>
          <p:cNvSpPr/>
          <p:nvPr/>
        </p:nvSpPr>
        <p:spPr>
          <a:xfrm>
            <a:off x="8900000" y="260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E2F5F1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Recent vs historical frequency</a:t>
            </a:r>
          </a:p>
        </p:txBody>
      </p:sp>
      <p:sp>
        <p:nvSpPr>
          <p:cNvPr id="38" name="Shape 38"/>
          <p:cNvSpPr/>
          <p:nvPr/>
        </p:nvSpPr>
        <p:spPr>
          <a:xfrm>
            <a:off x="5850000" y="320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E2F5F1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Temporal trend progression</a:t>
            </a:r>
          </a:p>
        </p:txBody>
      </p:sp>
      <p:sp>
        <p:nvSpPr>
          <p:cNvPr id="39" name="Shape 39"/>
          <p:cNvSpPr/>
          <p:nvPr/>
        </p:nvSpPr>
        <p:spPr>
          <a:xfrm>
            <a:off x="8900000" y="320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E2F5F1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Semantic similarity distribution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5850000" y="3930000"/>
            <a:ext cx="5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Planned visualizations</a:t>
            </a:r>
          </a:p>
        </p:txBody>
      </p:sp>
      <p:sp>
        <p:nvSpPr>
          <p:cNvPr id="41" name="Shape 41"/>
          <p:cNvSpPr/>
          <p:nvPr/>
        </p:nvSpPr>
        <p:spPr>
          <a:xfrm>
            <a:off x="5850000" y="443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FFFFFF"/>
                </a:solidFill>
                <a:latin typeface="Calibri"/>
                <a:cs typeface="Calibri"/>
              </a:rPr>
              <a:t>Topic-frequency timeline</a:t>
            </a:r>
          </a:p>
        </p:txBody>
      </p:sp>
      <p:sp>
        <p:nvSpPr>
          <p:cNvPr id="42" name="Shape 42"/>
          <p:cNvSpPr/>
          <p:nvPr/>
        </p:nvSpPr>
        <p:spPr>
          <a:xfrm>
            <a:off x="8900000" y="443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FFFFFF"/>
                </a:solidFill>
                <a:latin typeface="Calibri"/>
                <a:cs typeface="Calibri"/>
              </a:rPr>
              <a:t>Topic-year heatmap</a:t>
            </a:r>
          </a:p>
        </p:txBody>
      </p:sp>
      <p:sp>
        <p:nvSpPr>
          <p:cNvPr id="43" name="Shape 43"/>
          <p:cNvSpPr/>
          <p:nvPr/>
        </p:nvSpPr>
        <p:spPr>
          <a:xfrm>
            <a:off x="5850000" y="503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FFFFFF"/>
                </a:solidFill>
                <a:latin typeface="Calibri"/>
                <a:cs typeface="Calibri"/>
              </a:rPr>
              <a:t>Topic evolution graph</a:t>
            </a:r>
          </a:p>
        </p:txBody>
      </p:sp>
      <p:sp>
        <p:nvSpPr>
          <p:cNvPr id="44" name="Shape 44"/>
          <p:cNvSpPr/>
          <p:nvPr/>
        </p:nvSpPr>
        <p:spPr>
          <a:xfrm>
            <a:off x="8900000" y="5030000"/>
            <a:ext cx="2850000" cy="500000"/>
          </a:xfrm>
          <a:prstGeom prst="roundRect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  <p:txBody>
          <a:bodyPr wrap="square" lIns="150000" tIns="0" rIns="8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FFFFFF"/>
                </a:solidFill>
                <a:latin typeface="Calibri"/>
                <a:cs typeface="Calibri"/>
              </a:rPr>
              <a:t>Top-K forecast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Approach, Algorithms &amp; Tools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0000" y="1500000"/>
            <a:ext cx="66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Algorithms</a:t>
            </a:r>
          </a:p>
        </p:txBody>
      </p:sp>
      <p:sp>
        <p:nvSpPr>
          <p:cNvPr id="22" name="Card"/>
          <p:cNvSpPr/>
          <p:nvPr/>
        </p:nvSpPr>
        <p:spPr>
          <a:xfrm>
            <a:off x="450000" y="2000000"/>
            <a:ext cx="6600000" cy="516666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3" name="Text"/>
          <p:cNvSpPr txBox="1"/>
          <p:nvPr/>
        </p:nvSpPr>
        <p:spPr>
          <a:xfrm>
            <a:off x="650000" y="2000000"/>
            <a:ext cx="31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Sentence-BERT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950000" y="2000000"/>
            <a:ext cx="29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Semantic embeddings</a:t>
            </a:r>
          </a:p>
        </p:txBody>
      </p:sp>
      <p:sp>
        <p:nvSpPr>
          <p:cNvPr id="25" name="Card"/>
          <p:cNvSpPr/>
          <p:nvPr/>
        </p:nvSpPr>
        <p:spPr>
          <a:xfrm>
            <a:off x="450000" y="2596666"/>
            <a:ext cx="6600000" cy="516666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Text"/>
          <p:cNvSpPr txBox="1"/>
          <p:nvPr/>
        </p:nvSpPr>
        <p:spPr>
          <a:xfrm>
            <a:off x="650000" y="2596666"/>
            <a:ext cx="31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Cosine similarity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3950000" y="2596666"/>
            <a:ext cx="29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Semantic topic matching</a:t>
            </a:r>
          </a:p>
        </p:txBody>
      </p:sp>
      <p:sp>
        <p:nvSpPr>
          <p:cNvPr id="28" name="Card"/>
          <p:cNvSpPr/>
          <p:nvPr/>
        </p:nvSpPr>
        <p:spPr>
          <a:xfrm>
            <a:off x="450000" y="3193333"/>
            <a:ext cx="6600000" cy="516666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Text"/>
          <p:cNvSpPr txBox="1"/>
          <p:nvPr/>
        </p:nvSpPr>
        <p:spPr>
          <a:xfrm>
            <a:off x="650000" y="3193333"/>
            <a:ext cx="31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Temporal feature engineering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3950000" y="3193333"/>
            <a:ext cx="29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Recurrence, recency and trend</a:t>
            </a:r>
          </a:p>
        </p:txBody>
      </p:sp>
      <p:sp>
        <p:nvSpPr>
          <p:cNvPr id="31" name="Card"/>
          <p:cNvSpPr/>
          <p:nvPr/>
        </p:nvSpPr>
        <p:spPr>
          <a:xfrm>
            <a:off x="450000" y="3790000"/>
            <a:ext cx="6600000" cy="516666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2" name="Text"/>
          <p:cNvSpPr txBox="1"/>
          <p:nvPr/>
        </p:nvSpPr>
        <p:spPr>
          <a:xfrm>
            <a:off x="650000" y="3790000"/>
            <a:ext cx="31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Random Forest / XGBoost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3950000" y="3790000"/>
            <a:ext cx="29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Planned learned forecasting</a:t>
            </a:r>
          </a:p>
        </p:txBody>
      </p:sp>
      <p:sp>
        <p:nvSpPr>
          <p:cNvPr id="34" name="Card"/>
          <p:cNvSpPr/>
          <p:nvPr/>
        </p:nvSpPr>
        <p:spPr>
          <a:xfrm>
            <a:off x="450000" y="4386666"/>
            <a:ext cx="6600000" cy="516666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5" name="Text"/>
          <p:cNvSpPr txBox="1"/>
          <p:nvPr/>
        </p:nvSpPr>
        <p:spPr>
          <a:xfrm>
            <a:off x="650000" y="4386666"/>
            <a:ext cx="31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Frequency and recency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3950000" y="4386666"/>
            <a:ext cx="29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Baseline models</a:t>
            </a:r>
          </a:p>
        </p:txBody>
      </p:sp>
      <p:sp>
        <p:nvSpPr>
          <p:cNvPr id="37" name="Card"/>
          <p:cNvSpPr/>
          <p:nvPr/>
        </p:nvSpPr>
        <p:spPr>
          <a:xfrm>
            <a:off x="450000" y="4983333"/>
            <a:ext cx="6600000" cy="516666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Text"/>
          <p:cNvSpPr txBox="1"/>
          <p:nvPr/>
        </p:nvSpPr>
        <p:spPr>
          <a:xfrm>
            <a:off x="650000" y="4983333"/>
            <a:ext cx="31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Precision@K, Recall@K, F1@K, NDCG@K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3950000" y="4983333"/>
            <a:ext cx="2950000" cy="51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Evaluation metrics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400000" y="1500000"/>
            <a:ext cx="43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Tools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400000" y="2000000"/>
            <a:ext cx="4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B6E82"/>
                </a:solidFill>
                <a:latin typeface="Calibri"/>
                <a:cs typeface="Calibri"/>
              </a:rPr>
              <a:t>DATA</a:t>
            </a:r>
          </a:p>
        </p:txBody>
      </p:sp>
      <p:sp>
        <p:nvSpPr>
          <p:cNvPr id="42" name="Shape 42"/>
          <p:cNvSpPr/>
          <p:nvPr/>
        </p:nvSpPr>
        <p:spPr>
          <a:xfrm>
            <a:off x="7400000" y="2290000"/>
            <a:ext cx="829093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Python</a:t>
            </a:r>
          </a:p>
        </p:txBody>
      </p:sp>
      <p:sp>
        <p:nvSpPr>
          <p:cNvPr id="43" name="Shape 43"/>
          <p:cNvSpPr/>
          <p:nvPr/>
        </p:nvSpPr>
        <p:spPr>
          <a:xfrm>
            <a:off x="8339093" y="2290000"/>
            <a:ext cx="828468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Pandas</a:t>
            </a:r>
          </a:p>
        </p:txBody>
      </p:sp>
      <p:sp>
        <p:nvSpPr>
          <p:cNvPr id="44" name="Shape 44"/>
          <p:cNvSpPr/>
          <p:nvPr/>
        </p:nvSpPr>
        <p:spPr>
          <a:xfrm>
            <a:off x="9277561" y="2290000"/>
            <a:ext cx="837331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NumPy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7400000" y="2700000"/>
            <a:ext cx="4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B6E82"/>
                </a:solidFill>
                <a:latin typeface="Calibri"/>
                <a:cs typeface="Calibri"/>
              </a:rPr>
              <a:t>ML &amp; NLP</a:t>
            </a:r>
          </a:p>
        </p:txBody>
      </p:sp>
      <p:sp>
        <p:nvSpPr>
          <p:cNvPr id="46" name="Shape 46"/>
          <p:cNvSpPr/>
          <p:nvPr/>
        </p:nvSpPr>
        <p:spPr>
          <a:xfrm>
            <a:off x="7400000" y="2990000"/>
            <a:ext cx="1985155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Sentence Transformers</a:t>
            </a:r>
          </a:p>
        </p:txBody>
      </p:sp>
      <p:sp>
        <p:nvSpPr>
          <p:cNvPr id="47" name="Shape 47"/>
          <p:cNvSpPr/>
          <p:nvPr/>
        </p:nvSpPr>
        <p:spPr>
          <a:xfrm>
            <a:off x="9495155" y="2990000"/>
            <a:ext cx="112245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Scikit-learn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7400000" y="3400000"/>
            <a:ext cx="4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B6E82"/>
                </a:solidFill>
                <a:latin typeface="Calibri"/>
                <a:cs typeface="Calibri"/>
              </a:rPr>
              <a:t>OCR</a:t>
            </a:r>
          </a:p>
        </p:txBody>
      </p:sp>
      <p:sp>
        <p:nvSpPr>
          <p:cNvPr id="49" name="Shape 49"/>
          <p:cNvSpPr/>
          <p:nvPr/>
        </p:nvSpPr>
        <p:spPr>
          <a:xfrm>
            <a:off x="7400000" y="3690000"/>
            <a:ext cx="1331309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Tesseract OCR</a:t>
            </a:r>
          </a:p>
        </p:txBody>
      </p:sp>
      <p:sp>
        <p:nvSpPr>
          <p:cNvPr id="50" name="Shape 50"/>
          <p:cNvSpPr/>
          <p:nvPr/>
        </p:nvSpPr>
        <p:spPr>
          <a:xfrm>
            <a:off x="8841309" y="3690000"/>
            <a:ext cx="874571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Poppler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400000" y="4100000"/>
            <a:ext cx="4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B6E82"/>
                </a:solidFill>
                <a:latin typeface="Calibri"/>
                <a:cs typeface="Calibri"/>
              </a:rPr>
              <a:t>WEB APP</a:t>
            </a:r>
          </a:p>
        </p:txBody>
      </p:sp>
      <p:sp>
        <p:nvSpPr>
          <p:cNvPr id="52" name="Shape 52"/>
          <p:cNvSpPr/>
          <p:nvPr/>
        </p:nvSpPr>
        <p:spPr>
          <a:xfrm>
            <a:off x="7400000" y="4390000"/>
            <a:ext cx="669323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Flask</a:t>
            </a:r>
          </a:p>
        </p:txBody>
      </p:sp>
      <p:sp>
        <p:nvSpPr>
          <p:cNvPr id="53" name="Shape 53"/>
          <p:cNvSpPr/>
          <p:nvPr/>
        </p:nvSpPr>
        <p:spPr>
          <a:xfrm>
            <a:off x="8179323" y="4390000"/>
            <a:ext cx="1177581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React + Vite</a:t>
            </a:r>
          </a:p>
        </p:txBody>
      </p:sp>
      <p:sp>
        <p:nvSpPr>
          <p:cNvPr id="54" name="Shape 54"/>
          <p:cNvSpPr/>
          <p:nvPr/>
        </p:nvSpPr>
        <p:spPr>
          <a:xfrm>
            <a:off x="9466904" y="4390000"/>
            <a:ext cx="940371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Recharts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7400000" y="4800000"/>
            <a:ext cx="4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B6E82"/>
                </a:solidFill>
                <a:latin typeface="Calibri"/>
                <a:cs typeface="Calibri"/>
              </a:rPr>
              <a:t>REPORTS</a:t>
            </a:r>
          </a:p>
        </p:txBody>
      </p:sp>
      <p:sp>
        <p:nvSpPr>
          <p:cNvPr id="56" name="Shape 56"/>
          <p:cNvSpPr/>
          <p:nvPr/>
        </p:nvSpPr>
        <p:spPr>
          <a:xfrm>
            <a:off x="7400000" y="5090000"/>
            <a:ext cx="1061234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ReportLab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Project Plan &amp; Milestones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5500000" cy="3400000"/>
          </a:xfrm>
          <a:prstGeom prst="roundRect">
            <a:avLst>
              <a:gd name="adj" fmla="val 6000"/>
            </a:avLst>
          </a:prstGeom>
          <a:solidFill>
            <a:srgbClr val="E2F5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70000" y="1630000"/>
            <a:ext cx="520000" cy="52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330000" y="1630000"/>
            <a:ext cx="4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Completed / in progress</a:t>
            </a:r>
          </a:p>
        </p:txBody>
      </p:sp>
      <p:sp>
        <p:nvSpPr>
          <p:cNvPr id="24" name="Badge"/>
          <p:cNvSpPr/>
          <p:nvPr/>
        </p:nvSpPr>
        <p:spPr>
          <a:xfrm>
            <a:off x="710000" y="2235555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5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2297955"/>
            <a:ext cx="135200" cy="1352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1110000" y="2220000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Literature review and research-gap formulation</a:t>
            </a:r>
          </a:p>
        </p:txBody>
      </p:sp>
      <p:sp>
        <p:nvSpPr>
          <p:cNvPr id="27" name="Badge"/>
          <p:cNvSpPr/>
          <p:nvPr/>
        </p:nvSpPr>
        <p:spPr>
          <a:xfrm>
            <a:off x="710000" y="2526666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8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2589066"/>
            <a:ext cx="135200" cy="1352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110000" y="2511111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Multi-year paper ingestion pipeline</a:t>
            </a:r>
          </a:p>
        </p:txBody>
      </p:sp>
      <p:sp>
        <p:nvSpPr>
          <p:cNvPr id="30" name="Badge"/>
          <p:cNvSpPr/>
          <p:nvPr/>
        </p:nvSpPr>
        <p:spPr>
          <a:xfrm>
            <a:off x="710000" y="2817777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1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2880177"/>
            <a:ext cx="135200" cy="13520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1110000" y="2802222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PDF text extraction and OCR fallback</a:t>
            </a:r>
          </a:p>
        </p:txBody>
      </p:sp>
      <p:sp>
        <p:nvSpPr>
          <p:cNvPr id="33" name="Badge"/>
          <p:cNvSpPr/>
          <p:nvPr/>
        </p:nvSpPr>
        <p:spPr>
          <a:xfrm>
            <a:off x="710000" y="3108888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4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3171288"/>
            <a:ext cx="135200" cy="135200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1110000" y="3093333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Question segmentation</a:t>
            </a:r>
          </a:p>
        </p:txBody>
      </p:sp>
      <p:sp>
        <p:nvSpPr>
          <p:cNvPr id="36" name="Badge"/>
          <p:cNvSpPr/>
          <p:nvPr/>
        </p:nvSpPr>
        <p:spPr>
          <a:xfrm>
            <a:off x="710000" y="3400000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7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3462400"/>
            <a:ext cx="135200" cy="135200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1110000" y="3384444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Sentence-BERT semantic matching</a:t>
            </a:r>
          </a:p>
        </p:txBody>
      </p:sp>
      <p:sp>
        <p:nvSpPr>
          <p:cNvPr id="39" name="Badge"/>
          <p:cNvSpPr/>
          <p:nvPr/>
        </p:nvSpPr>
        <p:spPr>
          <a:xfrm>
            <a:off x="710000" y="3691111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0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3753511"/>
            <a:ext cx="135200" cy="135200"/>
          </a:xfrm>
          <a:prstGeom prst="rect">
            <a:avLst/>
          </a:prstGeom>
        </p:spPr>
      </p:pic>
      <p:sp>
        <p:nvSpPr>
          <p:cNvPr id="41" name="Text"/>
          <p:cNvSpPr txBox="1"/>
          <p:nvPr/>
        </p:nvSpPr>
        <p:spPr>
          <a:xfrm>
            <a:off x="1110000" y="3675555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Temporal topic analysis</a:t>
            </a:r>
          </a:p>
        </p:txBody>
      </p:sp>
      <p:sp>
        <p:nvSpPr>
          <p:cNvPr id="42" name="Badge"/>
          <p:cNvSpPr/>
          <p:nvPr/>
        </p:nvSpPr>
        <p:spPr>
          <a:xfrm>
            <a:off x="710000" y="3982222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3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4044622"/>
            <a:ext cx="135200" cy="135200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1110000" y="3966666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Forecast dashboard</a:t>
            </a:r>
          </a:p>
        </p:txBody>
      </p:sp>
      <p:sp>
        <p:nvSpPr>
          <p:cNvPr id="45" name="Badge"/>
          <p:cNvSpPr/>
          <p:nvPr/>
        </p:nvSpPr>
        <p:spPr>
          <a:xfrm>
            <a:off x="710000" y="4273333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6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4335733"/>
            <a:ext cx="135200" cy="135200"/>
          </a:xfrm>
          <a:prstGeom prst="rect">
            <a:avLst/>
          </a:prstGeom>
        </p:spPr>
      </p:pic>
      <p:sp>
        <p:nvSpPr>
          <p:cNvPr id="47" name="Text"/>
          <p:cNvSpPr txBox="1"/>
          <p:nvPr/>
        </p:nvSpPr>
        <p:spPr>
          <a:xfrm>
            <a:off x="1110000" y="4257777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Frequency and recency baselines</a:t>
            </a:r>
          </a:p>
        </p:txBody>
      </p:sp>
      <p:sp>
        <p:nvSpPr>
          <p:cNvPr id="48" name="Badge"/>
          <p:cNvSpPr/>
          <p:nvPr/>
        </p:nvSpPr>
        <p:spPr>
          <a:xfrm>
            <a:off x="710000" y="4564444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9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00" y="4626844"/>
            <a:ext cx="135200" cy="135200"/>
          </a:xfrm>
          <a:prstGeom prst="rect">
            <a:avLst/>
          </a:prstGeom>
        </p:spPr>
      </p:pic>
      <p:sp>
        <p:nvSpPr>
          <p:cNvPr id="50" name="Text"/>
          <p:cNvSpPr txBox="1"/>
          <p:nvPr/>
        </p:nvSpPr>
        <p:spPr>
          <a:xfrm>
            <a:off x="1110000" y="4548888"/>
            <a:ext cx="4620000" cy="291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Chronological back-testing framework</a:t>
            </a:r>
          </a:p>
        </p:txBody>
      </p:sp>
      <p:sp>
        <p:nvSpPr>
          <p:cNvPr id="51" name="Card"/>
          <p:cNvSpPr/>
          <p:nvPr/>
        </p:nvSpPr>
        <p:spPr>
          <a:xfrm>
            <a:off x="6250000" y="1500000"/>
            <a:ext cx="5500000" cy="340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2" name="Badge"/>
          <p:cNvSpPr/>
          <p:nvPr/>
        </p:nvSpPr>
        <p:spPr>
          <a:xfrm>
            <a:off x="6470000" y="1630000"/>
            <a:ext cx="520000" cy="5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7130000" y="1630000"/>
            <a:ext cx="45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Phase 2</a:t>
            </a:r>
          </a:p>
        </p:txBody>
      </p:sp>
      <p:sp>
        <p:nvSpPr>
          <p:cNvPr id="54" name="Badge"/>
          <p:cNvSpPr/>
          <p:nvPr/>
        </p:nvSpPr>
        <p:spPr>
          <a:xfrm>
            <a:off x="6510000" y="2277142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55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2339542"/>
            <a:ext cx="135200" cy="135200"/>
          </a:xfrm>
          <a:prstGeom prst="rect">
            <a:avLst/>
          </a:prstGeom>
        </p:spPr>
      </p:pic>
      <p:sp>
        <p:nvSpPr>
          <p:cNvPr id="56" name="Text"/>
          <p:cNvSpPr txBox="1"/>
          <p:nvPr/>
        </p:nvSpPr>
        <p:spPr>
          <a:xfrm>
            <a:off x="6910000" y="2220000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Expand historical examination corpus</a:t>
            </a:r>
          </a:p>
        </p:txBody>
      </p:sp>
      <p:sp>
        <p:nvSpPr>
          <p:cNvPr id="57" name="Badge"/>
          <p:cNvSpPr/>
          <p:nvPr/>
        </p:nvSpPr>
        <p:spPr>
          <a:xfrm>
            <a:off x="6510000" y="2651428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58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2713828"/>
            <a:ext cx="135200" cy="135200"/>
          </a:xfrm>
          <a:prstGeom prst="rect">
            <a:avLst/>
          </a:prstGeom>
        </p:spPr>
      </p:pic>
      <p:sp>
        <p:nvSpPr>
          <p:cNvPr id="59" name="Text"/>
          <p:cNvSpPr txBox="1"/>
          <p:nvPr/>
        </p:nvSpPr>
        <p:spPr>
          <a:xfrm>
            <a:off x="6910000" y="2594285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Improve semantic topic discovery</a:t>
            </a:r>
          </a:p>
        </p:txBody>
      </p:sp>
      <p:sp>
        <p:nvSpPr>
          <p:cNvPr id="60" name="Badge"/>
          <p:cNvSpPr/>
          <p:nvPr/>
        </p:nvSpPr>
        <p:spPr>
          <a:xfrm>
            <a:off x="6510000" y="3025714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61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3088114"/>
            <a:ext cx="135200" cy="135200"/>
          </a:xfrm>
          <a:prstGeom prst="rect">
            <a:avLst/>
          </a:prstGeom>
        </p:spPr>
      </p:pic>
      <p:sp>
        <p:nvSpPr>
          <p:cNvPr id="62" name="Text"/>
          <p:cNvSpPr txBox="1"/>
          <p:nvPr/>
        </p:nvSpPr>
        <p:spPr>
          <a:xfrm>
            <a:off x="6910000" y="2968571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Introduce learned forecasting model</a:t>
            </a:r>
          </a:p>
        </p:txBody>
      </p:sp>
      <p:sp>
        <p:nvSpPr>
          <p:cNvPr id="63" name="Badge"/>
          <p:cNvSpPr/>
          <p:nvPr/>
        </p:nvSpPr>
        <p:spPr>
          <a:xfrm>
            <a:off x="6510000" y="3400000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64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3462400"/>
            <a:ext cx="135200" cy="135200"/>
          </a:xfrm>
          <a:prstGeom prst="rect">
            <a:avLst/>
          </a:prstGeom>
        </p:spPr>
      </p:pic>
      <p:sp>
        <p:nvSpPr>
          <p:cNvPr id="65" name="Text"/>
          <p:cNvSpPr txBox="1"/>
          <p:nvPr/>
        </p:nvSpPr>
        <p:spPr>
          <a:xfrm>
            <a:off x="6910000" y="3342857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Add semantic topic evolution</a:t>
            </a:r>
          </a:p>
        </p:txBody>
      </p:sp>
      <p:sp>
        <p:nvSpPr>
          <p:cNvPr id="66" name="Badge"/>
          <p:cNvSpPr/>
          <p:nvPr/>
        </p:nvSpPr>
        <p:spPr>
          <a:xfrm>
            <a:off x="6510000" y="3774285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67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3836685"/>
            <a:ext cx="135200" cy="135200"/>
          </a:xfrm>
          <a:prstGeom prst="rect">
            <a:avLst/>
          </a:prstGeom>
        </p:spPr>
      </p:pic>
      <p:sp>
        <p:nvSpPr>
          <p:cNvPr id="68" name="Text"/>
          <p:cNvSpPr txBox="1"/>
          <p:nvPr/>
        </p:nvSpPr>
        <p:spPr>
          <a:xfrm>
            <a:off x="6910000" y="3717142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Add marks / question-type / Bloom's taxonomy analysis</a:t>
            </a:r>
          </a:p>
        </p:txBody>
      </p:sp>
      <p:sp>
        <p:nvSpPr>
          <p:cNvPr id="69" name="Badge"/>
          <p:cNvSpPr/>
          <p:nvPr/>
        </p:nvSpPr>
        <p:spPr>
          <a:xfrm>
            <a:off x="6510000" y="4148571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70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4210971"/>
            <a:ext cx="135200" cy="135200"/>
          </a:xfrm>
          <a:prstGeom prst="rect">
            <a:avLst/>
          </a:prstGeom>
        </p:spPr>
      </p:pic>
      <p:sp>
        <p:nvSpPr>
          <p:cNvPr id="71" name="Text"/>
          <p:cNvSpPr txBox="1"/>
          <p:nvPr/>
        </p:nvSpPr>
        <p:spPr>
          <a:xfrm>
            <a:off x="6910000" y="4091428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Add uncertainty and stronger explainability</a:t>
            </a:r>
          </a:p>
        </p:txBody>
      </p:sp>
      <p:sp>
        <p:nvSpPr>
          <p:cNvPr id="72" name="Badge"/>
          <p:cNvSpPr/>
          <p:nvPr/>
        </p:nvSpPr>
        <p:spPr>
          <a:xfrm>
            <a:off x="6510000" y="4522857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73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00" y="4585257"/>
            <a:ext cx="135200" cy="135200"/>
          </a:xfrm>
          <a:prstGeom prst="rect">
            <a:avLst/>
          </a:prstGeom>
        </p:spPr>
      </p:pic>
      <p:sp>
        <p:nvSpPr>
          <p:cNvPr id="74" name="Text"/>
          <p:cNvSpPr txBox="1"/>
          <p:nvPr/>
        </p:nvSpPr>
        <p:spPr>
          <a:xfrm>
            <a:off x="6910000" y="4465714"/>
            <a:ext cx="4620000" cy="374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Complete rigorous baseline comparison</a:t>
            </a:r>
          </a:p>
        </p:txBody>
      </p:sp>
      <p:sp>
        <p:nvSpPr>
          <p:cNvPr id="75" name="Shape 75"/>
          <p:cNvSpPr/>
          <p:nvPr/>
        </p:nvSpPr>
        <p:spPr>
          <a:xfrm>
            <a:off x="450000" y="5030000"/>
            <a:ext cx="11300000" cy="45000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</p:spPr>
        <p:txBody>
          <a:bodyPr wrap="square" lIns="560000" tIns="0" rIns="2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Note: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Actual forecasting metrics will be reported after the full multi-year corpus is processed successfully.</a:t>
            </a:r>
          </a:p>
        </p:txBody>
      </p:sp>
      <p:sp>
        <p:nvSpPr>
          <p:cNvPr id="76" name="Badge"/>
          <p:cNvSpPr/>
          <p:nvPr/>
        </p:nvSpPr>
        <p:spPr>
          <a:xfrm>
            <a:off x="580000" y="5105000"/>
            <a:ext cx="300000" cy="300000"/>
          </a:xfrm>
          <a:prstGeom prst="ellipse">
            <a:avLst/>
          </a:prstGeom>
          <a:solidFill>
            <a:srgbClr val="1BA9E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77" name="Icon FaInf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00" y="5177000"/>
            <a:ext cx="156000" cy="15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Pipeline Structure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Intelligent Examination Trend Analysis</a:t>
            </a:r>
          </a:p>
        </p:txBody>
      </p:sp>
      <p:sp>
        <p:nvSpPr>
          <p:cNvPr id="21" name="Step 1"/>
          <p:cNvSpPr/>
          <p:nvPr/>
        </p:nvSpPr>
        <p:spPr>
          <a:xfrm>
            <a:off x="450000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958571" y="1580000"/>
            <a:ext cx="340000" cy="34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10000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Historical Examination Papers</a:t>
            </a:r>
          </a:p>
        </p:txBody>
      </p:sp>
      <p:sp>
        <p:nvSpPr>
          <p:cNvPr id="24" name="Arrow"/>
          <p:cNvSpPr/>
          <p:nvPr/>
        </p:nvSpPr>
        <p:spPr>
          <a:xfrm>
            <a:off x="1847142" y="2045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5" name="Step 2"/>
          <p:cNvSpPr/>
          <p:nvPr/>
        </p:nvSpPr>
        <p:spPr>
          <a:xfrm>
            <a:off x="2107142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Badge"/>
          <p:cNvSpPr/>
          <p:nvPr/>
        </p:nvSpPr>
        <p:spPr>
          <a:xfrm>
            <a:off x="2615714" y="1580000"/>
            <a:ext cx="340000" cy="34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167142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PDF Text Extraction</a:t>
            </a:r>
          </a:p>
        </p:txBody>
      </p:sp>
      <p:sp>
        <p:nvSpPr>
          <p:cNvPr id="28" name="Arrow"/>
          <p:cNvSpPr/>
          <p:nvPr/>
        </p:nvSpPr>
        <p:spPr>
          <a:xfrm>
            <a:off x="3504285" y="2045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Step 3"/>
          <p:cNvSpPr/>
          <p:nvPr/>
        </p:nvSpPr>
        <p:spPr>
          <a:xfrm>
            <a:off x="3764285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4272857" y="1580000"/>
            <a:ext cx="340000" cy="34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824285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OCR if Required</a:t>
            </a:r>
          </a:p>
        </p:txBody>
      </p:sp>
      <p:sp>
        <p:nvSpPr>
          <p:cNvPr id="32" name="Arrow"/>
          <p:cNvSpPr/>
          <p:nvPr/>
        </p:nvSpPr>
        <p:spPr>
          <a:xfrm>
            <a:off x="5161428" y="2045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3" name="Step 4"/>
          <p:cNvSpPr/>
          <p:nvPr/>
        </p:nvSpPr>
        <p:spPr>
          <a:xfrm>
            <a:off x="5421428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Badge"/>
          <p:cNvSpPr/>
          <p:nvPr/>
        </p:nvSpPr>
        <p:spPr>
          <a:xfrm>
            <a:off x="5929999" y="1580000"/>
            <a:ext cx="340000" cy="34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481428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Question Segmentation</a:t>
            </a:r>
          </a:p>
        </p:txBody>
      </p:sp>
      <p:sp>
        <p:nvSpPr>
          <p:cNvPr id="36" name="Arrow"/>
          <p:cNvSpPr/>
          <p:nvPr/>
        </p:nvSpPr>
        <p:spPr>
          <a:xfrm>
            <a:off x="6818571" y="2045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7" name="Step 5"/>
          <p:cNvSpPr/>
          <p:nvPr/>
        </p:nvSpPr>
        <p:spPr>
          <a:xfrm>
            <a:off x="7078571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1E88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Badge"/>
          <p:cNvSpPr/>
          <p:nvPr/>
        </p:nvSpPr>
        <p:spPr>
          <a:xfrm>
            <a:off x="7587142" y="1580000"/>
            <a:ext cx="340000" cy="34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138571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Metadata Extraction</a:t>
            </a:r>
          </a:p>
        </p:txBody>
      </p:sp>
      <p:sp>
        <p:nvSpPr>
          <p:cNvPr id="40" name="Arrow"/>
          <p:cNvSpPr/>
          <p:nvPr/>
        </p:nvSpPr>
        <p:spPr>
          <a:xfrm>
            <a:off x="8475714" y="2045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1" name="Step 6"/>
          <p:cNvSpPr/>
          <p:nvPr/>
        </p:nvSpPr>
        <p:spPr>
          <a:xfrm>
            <a:off x="8735714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DEDFA"/>
          </a:solidFill>
          <a:ln w="12700">
            <a:solidFill>
              <a:srgbClr val="5B5F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" name="Badge"/>
          <p:cNvSpPr/>
          <p:nvPr/>
        </p:nvSpPr>
        <p:spPr>
          <a:xfrm>
            <a:off x="9244285" y="1580000"/>
            <a:ext cx="340000" cy="34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795714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Sentence-BERT Embeddings</a:t>
            </a:r>
          </a:p>
        </p:txBody>
      </p:sp>
      <p:sp>
        <p:nvSpPr>
          <p:cNvPr id="44" name="Arrow"/>
          <p:cNvSpPr/>
          <p:nvPr/>
        </p:nvSpPr>
        <p:spPr>
          <a:xfrm>
            <a:off x="10132857" y="2045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5" name="Step 7"/>
          <p:cNvSpPr/>
          <p:nvPr/>
        </p:nvSpPr>
        <p:spPr>
          <a:xfrm>
            <a:off x="10392857" y="15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DEDFA"/>
          </a:solidFill>
          <a:ln w="12700">
            <a:solidFill>
              <a:srgbClr val="5B5F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6" name="Badge"/>
          <p:cNvSpPr/>
          <p:nvPr/>
        </p:nvSpPr>
        <p:spPr>
          <a:xfrm>
            <a:off x="10901428" y="1580000"/>
            <a:ext cx="340000" cy="34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10452857" y="19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Semantic Topic Mapping</a:t>
            </a:r>
          </a:p>
        </p:txBody>
      </p:sp>
      <p:sp>
        <p:nvSpPr>
          <p:cNvPr id="48" name="Step 8"/>
          <p:cNvSpPr/>
          <p:nvPr/>
        </p:nvSpPr>
        <p:spPr>
          <a:xfrm>
            <a:off x="10392857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2F5F1"/>
          </a:solidFill>
          <a:ln w="12700">
            <a:solidFill>
              <a:srgbClr val="17968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9" name="Badge"/>
          <p:cNvSpPr/>
          <p:nvPr/>
        </p:nvSpPr>
        <p:spPr>
          <a:xfrm>
            <a:off x="10901428" y="3680000"/>
            <a:ext cx="340000" cy="34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10452857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Topic-Year Matrix</a:t>
            </a:r>
          </a:p>
        </p:txBody>
      </p:sp>
      <p:sp>
        <p:nvSpPr>
          <p:cNvPr id="51" name="Arrow"/>
          <p:cNvSpPr/>
          <p:nvPr/>
        </p:nvSpPr>
        <p:spPr>
          <a:xfrm>
            <a:off x="10132857" y="4145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2" name="Step 9"/>
          <p:cNvSpPr/>
          <p:nvPr/>
        </p:nvSpPr>
        <p:spPr>
          <a:xfrm>
            <a:off x="8735714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2F5F1"/>
          </a:solidFill>
          <a:ln w="12700">
            <a:solidFill>
              <a:srgbClr val="17968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3" name="Badge"/>
          <p:cNvSpPr/>
          <p:nvPr/>
        </p:nvSpPr>
        <p:spPr>
          <a:xfrm>
            <a:off x="9244285" y="3680000"/>
            <a:ext cx="340000" cy="34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8795714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Temporal Features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B6E82"/>
                </a:solidFill>
                <a:latin typeface="Calibri"/>
                <a:cs typeface="Calibri"/>
              </a:rPr>
              <a:t>Frequency • Recurrence • Recency • Trend</a:t>
            </a:r>
          </a:p>
        </p:txBody>
      </p:sp>
      <p:sp>
        <p:nvSpPr>
          <p:cNvPr id="55" name="Arrow"/>
          <p:cNvSpPr/>
          <p:nvPr/>
        </p:nvSpPr>
        <p:spPr>
          <a:xfrm>
            <a:off x="8475714" y="4145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6" name="Step 10"/>
          <p:cNvSpPr/>
          <p:nvPr/>
        </p:nvSpPr>
        <p:spPr>
          <a:xfrm>
            <a:off x="7078571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BF5E1"/>
          </a:solidFill>
          <a:ln w="12700">
            <a:solidFill>
              <a:srgbClr val="5A9E2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7" name="Badge"/>
          <p:cNvSpPr/>
          <p:nvPr/>
        </p:nvSpPr>
        <p:spPr>
          <a:xfrm>
            <a:off x="7587142" y="3680000"/>
            <a:ext cx="340000" cy="34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7138571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Forecasting Model</a:t>
            </a:r>
          </a:p>
        </p:txBody>
      </p:sp>
      <p:sp>
        <p:nvSpPr>
          <p:cNvPr id="59" name="Arrow"/>
          <p:cNvSpPr/>
          <p:nvPr/>
        </p:nvSpPr>
        <p:spPr>
          <a:xfrm>
            <a:off x="6818571" y="4145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0" name="Step 11"/>
          <p:cNvSpPr/>
          <p:nvPr/>
        </p:nvSpPr>
        <p:spPr>
          <a:xfrm>
            <a:off x="5421428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BF5E1"/>
          </a:solidFill>
          <a:ln w="12700">
            <a:solidFill>
              <a:srgbClr val="5A9E2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1" name="Badge"/>
          <p:cNvSpPr/>
          <p:nvPr/>
        </p:nvSpPr>
        <p:spPr>
          <a:xfrm>
            <a:off x="5929999" y="3680000"/>
            <a:ext cx="340000" cy="34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5481428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Top-K Topics</a:t>
            </a:r>
          </a:p>
        </p:txBody>
      </p:sp>
      <p:sp>
        <p:nvSpPr>
          <p:cNvPr id="63" name="Arrow"/>
          <p:cNvSpPr/>
          <p:nvPr/>
        </p:nvSpPr>
        <p:spPr>
          <a:xfrm>
            <a:off x="5161428" y="4145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4" name="Step 12"/>
          <p:cNvSpPr/>
          <p:nvPr/>
        </p:nvSpPr>
        <p:spPr>
          <a:xfrm>
            <a:off x="3764285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6EDF4"/>
          </a:solidFill>
          <a:ln w="12700">
            <a:solidFill>
              <a:srgbClr val="1F4E7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5" name="Badge"/>
          <p:cNvSpPr/>
          <p:nvPr/>
        </p:nvSpPr>
        <p:spPr>
          <a:xfrm>
            <a:off x="4272857" y="3680000"/>
            <a:ext cx="340000" cy="34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3824285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Explainable Evidence</a:t>
            </a:r>
          </a:p>
        </p:txBody>
      </p:sp>
      <p:sp>
        <p:nvSpPr>
          <p:cNvPr id="67" name="Arrow"/>
          <p:cNvSpPr/>
          <p:nvPr/>
        </p:nvSpPr>
        <p:spPr>
          <a:xfrm>
            <a:off x="3504285" y="4145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8" name="Step 13"/>
          <p:cNvSpPr/>
          <p:nvPr/>
        </p:nvSpPr>
        <p:spPr>
          <a:xfrm>
            <a:off x="2107142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6EDF4"/>
          </a:solidFill>
          <a:ln w="12700">
            <a:solidFill>
              <a:srgbClr val="1F4E7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9" name="Badge"/>
          <p:cNvSpPr/>
          <p:nvPr/>
        </p:nvSpPr>
        <p:spPr>
          <a:xfrm>
            <a:off x="2615714" y="3680000"/>
            <a:ext cx="340000" cy="34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2167142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Chronological Back-Testing</a:t>
            </a:r>
          </a:p>
        </p:txBody>
      </p:sp>
      <p:sp>
        <p:nvSpPr>
          <p:cNvPr id="71" name="Arrow"/>
          <p:cNvSpPr/>
          <p:nvPr/>
        </p:nvSpPr>
        <p:spPr>
          <a:xfrm>
            <a:off x="1847142" y="4145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72" name="Step 14"/>
          <p:cNvSpPr/>
          <p:nvPr/>
        </p:nvSpPr>
        <p:spPr>
          <a:xfrm>
            <a:off x="450000" y="3600000"/>
            <a:ext cx="1357142" cy="1350000"/>
          </a:xfrm>
          <a:prstGeom prst="roundRect">
            <a:avLst>
              <a:gd name="adj" fmla="val 8000"/>
            </a:avLst>
          </a:prstGeom>
          <a:solidFill>
            <a:srgbClr val="E6EDF4"/>
          </a:solidFill>
          <a:ln w="12700">
            <a:solidFill>
              <a:srgbClr val="1F4E7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73" name="Badge"/>
          <p:cNvSpPr/>
          <p:nvPr/>
        </p:nvSpPr>
        <p:spPr>
          <a:xfrm>
            <a:off x="958571" y="3680000"/>
            <a:ext cx="340000" cy="34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510000" y="4050000"/>
            <a:ext cx="1237142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Research Dashboard</a:t>
            </a:r>
          </a:p>
        </p:txBody>
      </p:sp>
      <p:sp>
        <p:nvSpPr>
          <p:cNvPr id="75" name="Arrow"/>
          <p:cNvSpPr/>
          <p:nvPr/>
        </p:nvSpPr>
        <p:spPr>
          <a:xfrm>
            <a:off x="10901428" y="2940000"/>
            <a:ext cx="340000" cy="570000"/>
          </a:xfrm>
          <a:prstGeom prst="down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76" name="Legend dot"/>
          <p:cNvSpPr/>
          <p:nvPr/>
        </p:nvSpPr>
        <p:spPr>
          <a:xfrm>
            <a:off x="450000" y="5150000"/>
            <a:ext cx="220000" cy="2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77" name="Text"/>
          <p:cNvSpPr txBox="1"/>
          <p:nvPr/>
        </p:nvSpPr>
        <p:spPr>
          <a:xfrm>
            <a:off x="750000" y="5080000"/>
            <a:ext cx="15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3B53"/>
                </a:solidFill>
                <a:latin typeface="Calibri"/>
                <a:cs typeface="Calibri"/>
              </a:rPr>
              <a:t>Data ingestion</a:t>
            </a:r>
          </a:p>
        </p:txBody>
      </p:sp>
      <p:sp>
        <p:nvSpPr>
          <p:cNvPr id="78" name="Legend dot"/>
          <p:cNvSpPr/>
          <p:nvPr/>
        </p:nvSpPr>
        <p:spPr>
          <a:xfrm>
            <a:off x="2350000" y="5150000"/>
            <a:ext cx="220000" cy="22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79" name="Text"/>
          <p:cNvSpPr txBox="1"/>
          <p:nvPr/>
        </p:nvSpPr>
        <p:spPr>
          <a:xfrm>
            <a:off x="2650000" y="5080000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3B53"/>
                </a:solidFill>
                <a:latin typeface="Calibri"/>
                <a:cs typeface="Calibri"/>
              </a:rPr>
              <a:t>Semantic mapping</a:t>
            </a:r>
          </a:p>
        </p:txBody>
      </p:sp>
      <p:sp>
        <p:nvSpPr>
          <p:cNvPr id="80" name="Legend dot"/>
          <p:cNvSpPr/>
          <p:nvPr/>
        </p:nvSpPr>
        <p:spPr>
          <a:xfrm>
            <a:off x="4450000" y="5150000"/>
            <a:ext cx="220000" cy="22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81" name="Text"/>
          <p:cNvSpPr txBox="1"/>
          <p:nvPr/>
        </p:nvSpPr>
        <p:spPr>
          <a:xfrm>
            <a:off x="4750000" y="5080000"/>
            <a:ext cx="1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3B53"/>
                </a:solidFill>
                <a:latin typeface="Calibri"/>
                <a:cs typeface="Calibri"/>
              </a:rPr>
              <a:t>Temporal analysis</a:t>
            </a:r>
          </a:p>
        </p:txBody>
      </p:sp>
      <p:sp>
        <p:nvSpPr>
          <p:cNvPr id="82" name="Legend dot"/>
          <p:cNvSpPr/>
          <p:nvPr/>
        </p:nvSpPr>
        <p:spPr>
          <a:xfrm>
            <a:off x="6550000" y="5150000"/>
            <a:ext cx="220000" cy="22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83" name="Text"/>
          <p:cNvSpPr txBox="1"/>
          <p:nvPr/>
        </p:nvSpPr>
        <p:spPr>
          <a:xfrm>
            <a:off x="6850000" y="5080000"/>
            <a:ext cx="1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3B53"/>
                </a:solidFill>
                <a:latin typeface="Calibri"/>
                <a:cs typeface="Calibri"/>
              </a:rPr>
              <a:t>Forecasting</a:t>
            </a:r>
          </a:p>
        </p:txBody>
      </p:sp>
      <p:sp>
        <p:nvSpPr>
          <p:cNvPr id="84" name="Legend dot"/>
          <p:cNvSpPr/>
          <p:nvPr/>
        </p:nvSpPr>
        <p:spPr>
          <a:xfrm>
            <a:off x="8250000" y="5150000"/>
            <a:ext cx="220000" cy="22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85" name="Text"/>
          <p:cNvSpPr txBox="1"/>
          <p:nvPr/>
        </p:nvSpPr>
        <p:spPr>
          <a:xfrm>
            <a:off x="8550000" y="5080000"/>
            <a:ext cx="27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43B53"/>
                </a:solidFill>
                <a:latin typeface="Calibri"/>
                <a:cs typeface="Calibri"/>
              </a:rPr>
              <a:t>Explain, evaluate &amp; present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itle block"/>
          <p:cNvSpPr txBox="1"/>
          <p:nvPr/>
        </p:nvSpPr>
        <p:spPr>
          <a:xfrm>
            <a:off x="180236" y="1900000"/>
            <a:ext cx="11428184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FFFFFF"/>
                </a:solidFill>
                <a:latin typeface="Calibri"/>
                <a:cs typeface="Calibri"/>
              </a:rPr>
              <a:t>Review II   |   Project 2</a:t>
            </a:r>
          </a:p>
          <a:p>
            <a:pPr marL="0" indent="0" algn="ctr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FFFFFF"/>
                </a:solidFill>
                <a:latin typeface="Calibri"/>
                <a:cs typeface="Calibri"/>
              </a:rPr>
              <a:t>Agentic AI Framework for Autonomous Data Analysis and Insight Generation</a:t>
            </a:r>
          </a:p>
          <a:p>
            <a:pPr marL="0" indent="0" algn="ctr">
              <a:spcBef>
                <a:spcPts val="260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Team Member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Sanjay Karthick S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251011013</a:t>
            </a:r>
            <a:endParaRPr lang="en-US" sz="26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Introduction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0000" y="1500000"/>
            <a:ext cx="113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Data analysis requires profiling, preprocessing, EDA, modeling and validation.</a:t>
            </a:r>
          </a:p>
        </p:txBody>
      </p:sp>
      <p:sp>
        <p:nvSpPr>
          <p:cNvPr id="22" name="Shape 22"/>
          <p:cNvSpPr/>
          <p:nvPr/>
        </p:nvSpPr>
        <p:spPr>
          <a:xfrm>
            <a:off x="450000" y="2060000"/>
            <a:ext cx="1900000" cy="560000"/>
          </a:xfrm>
          <a:prstGeom prst="roundRect">
            <a:avLst>
              <a:gd name="adj" fmla="val 3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Profiling</a:t>
            </a:r>
          </a:p>
        </p:txBody>
      </p:sp>
      <p:sp>
        <p:nvSpPr>
          <p:cNvPr id="23" name="Arrow"/>
          <p:cNvSpPr/>
          <p:nvPr/>
        </p:nvSpPr>
        <p:spPr>
          <a:xfrm>
            <a:off x="2440000" y="2190000"/>
            <a:ext cx="270000" cy="30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2800000" y="2060000"/>
            <a:ext cx="1900000" cy="560000"/>
          </a:xfrm>
          <a:prstGeom prst="roundRect">
            <a:avLst>
              <a:gd name="adj" fmla="val 3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Preprocessing</a:t>
            </a:r>
          </a:p>
        </p:txBody>
      </p:sp>
      <p:sp>
        <p:nvSpPr>
          <p:cNvPr id="25" name="Arrow"/>
          <p:cNvSpPr/>
          <p:nvPr/>
        </p:nvSpPr>
        <p:spPr>
          <a:xfrm>
            <a:off x="4790000" y="2190000"/>
            <a:ext cx="270000" cy="30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5150000" y="2060000"/>
            <a:ext cx="1900000" cy="560000"/>
          </a:xfrm>
          <a:prstGeom prst="roundRect">
            <a:avLst>
              <a:gd name="adj" fmla="val 3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EDA</a:t>
            </a:r>
          </a:p>
        </p:txBody>
      </p:sp>
      <p:sp>
        <p:nvSpPr>
          <p:cNvPr id="27" name="Arrow"/>
          <p:cNvSpPr/>
          <p:nvPr/>
        </p:nvSpPr>
        <p:spPr>
          <a:xfrm>
            <a:off x="7140000" y="2190000"/>
            <a:ext cx="270000" cy="30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7500000" y="2060000"/>
            <a:ext cx="1900000" cy="560000"/>
          </a:xfrm>
          <a:prstGeom prst="roundRect">
            <a:avLst>
              <a:gd name="adj" fmla="val 3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Modeling</a:t>
            </a:r>
          </a:p>
        </p:txBody>
      </p:sp>
      <p:sp>
        <p:nvSpPr>
          <p:cNvPr id="29" name="Arrow"/>
          <p:cNvSpPr/>
          <p:nvPr/>
        </p:nvSpPr>
        <p:spPr>
          <a:xfrm>
            <a:off x="9490000" y="2190000"/>
            <a:ext cx="270000" cy="30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9850000" y="2060000"/>
            <a:ext cx="1900000" cy="560000"/>
          </a:xfrm>
          <a:prstGeom prst="roundRect">
            <a:avLst>
              <a:gd name="adj" fmla="val 3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</a:p>
        </p:txBody>
      </p:sp>
      <p:sp>
        <p:nvSpPr>
          <p:cNvPr id="31" name="Card"/>
          <p:cNvSpPr/>
          <p:nvPr/>
        </p:nvSpPr>
        <p:spPr>
          <a:xfrm>
            <a:off x="450000" y="2920000"/>
            <a:ext cx="5400000" cy="1850000"/>
          </a:xfrm>
          <a:prstGeom prst="roundRect">
            <a:avLst>
              <a:gd name="adj" fmla="val 6000"/>
            </a:avLst>
          </a:prstGeom>
          <a:solidFill>
            <a:srgbClr val="E6ED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2" name="Text"/>
          <p:cNvSpPr txBox="1"/>
          <p:nvPr/>
        </p:nvSpPr>
        <p:spPr>
          <a:xfrm>
            <a:off x="710000" y="3070000"/>
            <a:ext cx="488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b="1" i="0" dirty="0">
                <a:solidFill>
                  <a:srgbClr val="1F4E79"/>
                </a:solidFill>
                <a:latin typeface="Calibri"/>
                <a:cs typeface="Calibri"/>
              </a:rPr>
              <a:t>Conventional automation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43B53"/>
                </a:solidFill>
                <a:latin typeface="Calibri"/>
                <a:cs typeface="Calibri"/>
              </a:rPr>
              <a:t>Often follows predefined workflows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700" b="0" i="0" dirty="0">
                <a:solidFill>
                  <a:srgbClr val="243B53"/>
                </a:solidFill>
                <a:latin typeface="Calibri"/>
                <a:cs typeface="Calibri"/>
              </a:rPr>
              <a:t>Fixed workflows may not adapt effectively to different datasets and analytical objectives</a:t>
            </a:r>
          </a:p>
        </p:txBody>
      </p:sp>
      <p:sp>
        <p:nvSpPr>
          <p:cNvPr id="33" name="Arrow"/>
          <p:cNvSpPr/>
          <p:nvPr/>
        </p:nvSpPr>
        <p:spPr>
          <a:xfrm>
            <a:off x="5920000" y="3625000"/>
            <a:ext cx="360000" cy="44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Card"/>
          <p:cNvSpPr/>
          <p:nvPr/>
        </p:nvSpPr>
        <p:spPr>
          <a:xfrm>
            <a:off x="6350000" y="2920000"/>
            <a:ext cx="5400000" cy="185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5" name="Text"/>
          <p:cNvSpPr txBox="1"/>
          <p:nvPr/>
        </p:nvSpPr>
        <p:spPr>
          <a:xfrm>
            <a:off x="6610000" y="3070000"/>
            <a:ext cx="488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Calibri"/>
                <a:cs typeface="Calibri"/>
              </a:rPr>
              <a:t>Agentic AI framework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700" b="0" i="0" dirty="0">
                <a:solidFill>
                  <a:srgbClr val="FFFFFF"/>
                </a:solidFill>
                <a:latin typeface="Calibri"/>
                <a:cs typeface="Calibri"/>
              </a:rPr>
              <a:t>Understands datasets and plans suitable workflows</a:t>
            </a:r>
          </a:p>
          <a:p>
            <a:pPr marL="228600" indent="-228600" algn="l">
              <a:spcBef>
                <a:spcPts val="0"/>
              </a:spcBef>
              <a:spcAft>
                <a:spcPts val="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700" b="0" i="0" dirty="0">
                <a:solidFill>
                  <a:srgbClr val="FFFFFF"/>
                </a:solidFill>
                <a:latin typeface="Calibri"/>
                <a:cs typeface="Calibri"/>
              </a:rPr>
              <a:t>Specialized agents execute Data Science tasks using deterministic Python tools</a:t>
            </a:r>
          </a:p>
        </p:txBody>
      </p:sp>
      <p:sp>
        <p:nvSpPr>
          <p:cNvPr id="36" name="Shape 36"/>
          <p:cNvSpPr/>
          <p:nvPr/>
        </p:nvSpPr>
        <p:spPr>
          <a:xfrm>
            <a:off x="450000" y="4970000"/>
            <a:ext cx="11300000" cy="480000"/>
          </a:xfrm>
          <a:prstGeom prst="roundRect">
            <a:avLst>
              <a:gd name="adj" fmla="val 30000"/>
            </a:avLst>
          </a:prstGeom>
          <a:solidFill>
            <a:srgbClr val="17968A"/>
          </a:solidFill>
          <a:ln>
            <a:noFill/>
          </a:ln>
        </p:spPr>
        <p:txBody>
          <a:bodyPr wrap="square" lIns="1500000" tIns="0" rIns="2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Adds autonomous preprocessing and a downloadable processed dataset</a:t>
            </a:r>
          </a:p>
        </p:txBody>
      </p:sp>
      <p:sp>
        <p:nvSpPr>
          <p:cNvPr id="37" name="Shape 37"/>
          <p:cNvSpPr/>
          <p:nvPr/>
        </p:nvSpPr>
        <p:spPr>
          <a:xfrm>
            <a:off x="650000" y="5060000"/>
            <a:ext cx="1100000" cy="3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7968A"/>
                </a:solidFill>
                <a:latin typeface="Calibri"/>
                <a:cs typeface="Calibri"/>
              </a:rPr>
              <a:t>PHASE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Objective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30000" y="1670000"/>
            <a:ext cx="480000" cy="48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230000" y="1670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Profile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50000" y="2280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Automatically profile uploaded structured / tabular datasets.</a:t>
            </a:r>
          </a:p>
        </p:txBody>
      </p:sp>
      <p:sp>
        <p:nvSpPr>
          <p:cNvPr id="25" name="Card"/>
          <p:cNvSpPr/>
          <p:nvPr/>
        </p:nvSpPr>
        <p:spPr>
          <a:xfrm>
            <a:off x="3325000" y="1500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Badge"/>
          <p:cNvSpPr/>
          <p:nvPr/>
        </p:nvSpPr>
        <p:spPr>
          <a:xfrm>
            <a:off x="3505000" y="1670000"/>
            <a:ext cx="480000" cy="48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105000" y="1670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Detect the task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3525000" y="2280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Identify classification, regression or clustering from dataset characteristics and user intent.</a:t>
            </a:r>
          </a:p>
        </p:txBody>
      </p:sp>
      <p:sp>
        <p:nvSpPr>
          <p:cNvPr id="29" name="Card"/>
          <p:cNvSpPr/>
          <p:nvPr/>
        </p:nvSpPr>
        <p:spPr>
          <a:xfrm>
            <a:off x="6200000" y="1500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6380000" y="1670000"/>
            <a:ext cx="480000" cy="48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980000" y="1670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Plan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400000" y="2280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Dynamically plan an appropriate Data Science workflow.</a:t>
            </a:r>
          </a:p>
        </p:txBody>
      </p:sp>
      <p:sp>
        <p:nvSpPr>
          <p:cNvPr id="33" name="Card"/>
          <p:cNvSpPr/>
          <p:nvPr/>
        </p:nvSpPr>
        <p:spPr>
          <a:xfrm>
            <a:off x="9075000" y="1500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Badge"/>
          <p:cNvSpPr/>
          <p:nvPr/>
        </p:nvSpPr>
        <p:spPr>
          <a:xfrm>
            <a:off x="9255000" y="1670000"/>
            <a:ext cx="480000" cy="48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855000" y="1670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Preprocess &amp; EDA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9275000" y="2280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Autonomously perform preprocessing and EDA.</a:t>
            </a:r>
          </a:p>
        </p:txBody>
      </p:sp>
      <p:sp>
        <p:nvSpPr>
          <p:cNvPr id="37" name="Card"/>
          <p:cNvSpPr/>
          <p:nvPr/>
        </p:nvSpPr>
        <p:spPr>
          <a:xfrm>
            <a:off x="450000" y="3625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Badge"/>
          <p:cNvSpPr/>
          <p:nvPr/>
        </p:nvSpPr>
        <p:spPr>
          <a:xfrm>
            <a:off x="630000" y="3795000"/>
            <a:ext cx="480000" cy="48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1230000" y="3795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Model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50000" y="4405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Select and execute suitable ML algorithms and metrics.</a:t>
            </a:r>
          </a:p>
        </p:txBody>
      </p:sp>
      <p:sp>
        <p:nvSpPr>
          <p:cNvPr id="41" name="Card"/>
          <p:cNvSpPr/>
          <p:nvPr/>
        </p:nvSpPr>
        <p:spPr>
          <a:xfrm>
            <a:off x="3325000" y="3625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" name="Badge"/>
          <p:cNvSpPr/>
          <p:nvPr/>
        </p:nvSpPr>
        <p:spPr>
          <a:xfrm>
            <a:off x="3505000" y="3795000"/>
            <a:ext cx="480000" cy="480000"/>
          </a:xfrm>
          <a:prstGeom prst="ellipse">
            <a:avLst/>
          </a:prstGeom>
          <a:solidFill>
            <a:srgbClr val="0E7F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4105000" y="3795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Validate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3525000" y="4405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Validate results and support iterative refinement.</a:t>
            </a:r>
          </a:p>
        </p:txBody>
      </p:sp>
      <p:sp>
        <p:nvSpPr>
          <p:cNvPr id="45" name="Card"/>
          <p:cNvSpPr/>
          <p:nvPr/>
        </p:nvSpPr>
        <p:spPr>
          <a:xfrm>
            <a:off x="6200000" y="3625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6" name="Badge"/>
          <p:cNvSpPr/>
          <p:nvPr/>
        </p:nvSpPr>
        <p:spPr>
          <a:xfrm>
            <a:off x="6380000" y="3795000"/>
            <a:ext cx="480000" cy="48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6980000" y="3795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Insights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400000" y="4405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Generate interpretable insights and reports.</a:t>
            </a:r>
          </a:p>
        </p:txBody>
      </p:sp>
      <p:sp>
        <p:nvSpPr>
          <p:cNvPr id="49" name="Card"/>
          <p:cNvSpPr/>
          <p:nvPr/>
        </p:nvSpPr>
        <p:spPr>
          <a:xfrm>
            <a:off x="9075000" y="3625000"/>
            <a:ext cx="2675000" cy="1875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0" name="Badge"/>
          <p:cNvSpPr/>
          <p:nvPr/>
        </p:nvSpPr>
        <p:spPr>
          <a:xfrm>
            <a:off x="9255000" y="3795000"/>
            <a:ext cx="480000" cy="48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9855000" y="3795000"/>
            <a:ext cx="17750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F4E79"/>
                </a:solidFill>
                <a:latin typeface="Calibri"/>
                <a:cs typeface="Calibri"/>
              </a:rPr>
              <a:t>Deliver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9275000" y="4405000"/>
            <a:ext cx="2295000" cy="102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dirty="0">
                <a:solidFill>
                  <a:srgbClr val="243B53"/>
                </a:solidFill>
                <a:latin typeface="Calibri"/>
                <a:cs typeface="Calibri"/>
              </a:rPr>
              <a:t>Provide a downloadable preprocessed dataset as an output artifact.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Modules to Cover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650000" y="1690000"/>
            <a:ext cx="600000" cy="6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3" name="Icon FaSe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00" y="1834000"/>
            <a:ext cx="312000" cy="312000"/>
          </a:xfrm>
          <a:prstGeom prst="rect">
            <a:avLst/>
          </a:prstGeom>
        </p:spPr>
      </p:pic>
      <p:sp>
        <p:nvSpPr>
          <p:cNvPr id="24" name="Text"/>
          <p:cNvSpPr txBox="1"/>
          <p:nvPr/>
        </p:nvSpPr>
        <p:spPr>
          <a:xfrm>
            <a:off x="1400000" y="16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Profiling &amp; Task Detection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80000" y="24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Profile Agent analyses the dataset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E88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Classification, regression or clustering</a:t>
            </a:r>
          </a:p>
        </p:txBody>
      </p:sp>
      <p:sp>
        <p:nvSpPr>
          <p:cNvPr id="26" name="Card"/>
          <p:cNvSpPr/>
          <p:nvPr/>
        </p:nvSpPr>
        <p:spPr>
          <a:xfrm>
            <a:off x="4300000" y="15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7" name="Badge"/>
          <p:cNvSpPr/>
          <p:nvPr/>
        </p:nvSpPr>
        <p:spPr>
          <a:xfrm>
            <a:off x="4500000" y="1690000"/>
            <a:ext cx="600000" cy="60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8" name="Icon FaSite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0" y="1834000"/>
            <a:ext cx="312000" cy="3120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5250000" y="16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Workflow Planning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530000" y="24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B5F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Planner Agent builds the plan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B5FC7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Dataset-specific, dynamic workflow</a:t>
            </a:r>
          </a:p>
        </p:txBody>
      </p:sp>
      <p:sp>
        <p:nvSpPr>
          <p:cNvPr id="31" name="Card"/>
          <p:cNvSpPr/>
          <p:nvPr/>
        </p:nvSpPr>
        <p:spPr>
          <a:xfrm>
            <a:off x="8150000" y="15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2" name="Badge"/>
          <p:cNvSpPr/>
          <p:nvPr/>
        </p:nvSpPr>
        <p:spPr>
          <a:xfrm>
            <a:off x="8350000" y="1690000"/>
            <a:ext cx="600000" cy="60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3" name="Icon FaBro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000" y="1834000"/>
            <a:ext cx="312000" cy="312000"/>
          </a:xfrm>
          <a:prstGeom prst="rect">
            <a:avLst/>
          </a:prstGeom>
        </p:spPr>
      </p:pic>
      <p:sp>
        <p:nvSpPr>
          <p:cNvPr id="34" name="Text"/>
          <p:cNvSpPr txBox="1"/>
          <p:nvPr/>
        </p:nvSpPr>
        <p:spPr>
          <a:xfrm>
            <a:off x="9100000" y="16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Autonomous Preprocessing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380000" y="24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7968A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Preprocessing Agent + validation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7968A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Phase 2: downloadable processed CSV</a:t>
            </a:r>
          </a:p>
        </p:txBody>
      </p:sp>
      <p:sp>
        <p:nvSpPr>
          <p:cNvPr id="36" name="Card"/>
          <p:cNvSpPr/>
          <p:nvPr/>
        </p:nvSpPr>
        <p:spPr>
          <a:xfrm>
            <a:off x="450000" y="37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7" name="Badge"/>
          <p:cNvSpPr/>
          <p:nvPr/>
        </p:nvSpPr>
        <p:spPr>
          <a:xfrm>
            <a:off x="650000" y="3890000"/>
            <a:ext cx="600000" cy="60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8" name="Icon FaChartB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00" y="4034000"/>
            <a:ext cx="312000" cy="312000"/>
          </a:xfrm>
          <a:prstGeom prst="rect">
            <a:avLst/>
          </a:prstGeom>
        </p:spPr>
      </p:pic>
      <p:sp>
        <p:nvSpPr>
          <p:cNvPr id="39" name="Text"/>
          <p:cNvSpPr txBox="1"/>
          <p:nvPr/>
        </p:nvSpPr>
        <p:spPr>
          <a:xfrm>
            <a:off x="1400000" y="38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Exploratory Data Analysis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80000" y="46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A9E2F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EDA Agent runs the analysis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5A9E2F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Matplotlib / Plotly visualizations</a:t>
            </a:r>
          </a:p>
        </p:txBody>
      </p:sp>
      <p:sp>
        <p:nvSpPr>
          <p:cNvPr id="41" name="Card"/>
          <p:cNvSpPr/>
          <p:nvPr/>
        </p:nvSpPr>
        <p:spPr>
          <a:xfrm>
            <a:off x="4300000" y="37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" name="Badge"/>
          <p:cNvSpPr/>
          <p:nvPr/>
        </p:nvSpPr>
        <p:spPr>
          <a:xfrm>
            <a:off x="4500000" y="3890000"/>
            <a:ext cx="600000" cy="600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3" name="Icon FaCog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000" y="4034000"/>
            <a:ext cx="312000" cy="312000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5250000" y="38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Modeling &amp; Validation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4530000" y="46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F4E79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Model Agent: LR, RF, K-Means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1F4E79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Validation and iterative refinement</a:t>
            </a:r>
          </a:p>
        </p:txBody>
      </p:sp>
      <p:sp>
        <p:nvSpPr>
          <p:cNvPr id="46" name="Card"/>
          <p:cNvSpPr/>
          <p:nvPr/>
        </p:nvSpPr>
        <p:spPr>
          <a:xfrm>
            <a:off x="8150000" y="3700000"/>
            <a:ext cx="3600000" cy="195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7" name="Badge"/>
          <p:cNvSpPr/>
          <p:nvPr/>
        </p:nvSpPr>
        <p:spPr>
          <a:xfrm>
            <a:off x="8350000" y="3890000"/>
            <a:ext cx="600000" cy="600000"/>
          </a:xfrm>
          <a:prstGeom prst="ellipse">
            <a:avLst/>
          </a:prstGeom>
          <a:solidFill>
            <a:srgbClr val="0E7FA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8" name="Icon FaFile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000" y="4034000"/>
            <a:ext cx="312000" cy="312000"/>
          </a:xfrm>
          <a:prstGeom prst="rect">
            <a:avLst/>
          </a:prstGeom>
        </p:spPr>
      </p:pic>
      <p:sp>
        <p:nvSpPr>
          <p:cNvPr id="49" name="Text"/>
          <p:cNvSpPr txBox="1"/>
          <p:nvPr/>
        </p:nvSpPr>
        <p:spPr>
          <a:xfrm>
            <a:off x="9100000" y="3830000"/>
            <a:ext cx="25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Insights &amp; Reporting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380000" y="4680000"/>
            <a:ext cx="3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0E7FA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Insight Agent: interpretable insights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Clr>
                <a:srgbClr val="0E7FA6"/>
              </a:buClr>
              <a:buFont typeface="Arial"/>
              <a:buChar char="•"/>
            </a:pPr>
            <a:r>
              <a:rPr lang="en-US" sz="1500" b="0" i="0" dirty="0">
                <a:solidFill>
                  <a:srgbClr val="243B53"/>
                </a:solidFill>
                <a:latin typeface="Calibri"/>
                <a:cs typeface="Calibri"/>
              </a:rPr>
              <a:t>Analysis report + preprocessed 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Methodology / Modeling Plan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Step 1"/>
          <p:cNvSpPr/>
          <p:nvPr/>
        </p:nvSpPr>
        <p:spPr>
          <a:xfrm>
            <a:off x="450000" y="150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550000" y="159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40000" y="193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Dataset + User Goal</a:t>
            </a:r>
          </a:p>
        </p:txBody>
      </p:sp>
      <p:sp>
        <p:nvSpPr>
          <p:cNvPr id="24" name="Arrow"/>
          <p:cNvSpPr/>
          <p:nvPr/>
        </p:nvSpPr>
        <p:spPr>
          <a:xfrm>
            <a:off x="2123333" y="1970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5" name="Step 2"/>
          <p:cNvSpPr/>
          <p:nvPr/>
        </p:nvSpPr>
        <p:spPr>
          <a:xfrm>
            <a:off x="2383333" y="150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Badge"/>
          <p:cNvSpPr/>
          <p:nvPr/>
        </p:nvSpPr>
        <p:spPr>
          <a:xfrm>
            <a:off x="2483333" y="159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473333" y="193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Dataset Profiling Agent</a:t>
            </a:r>
          </a:p>
        </p:txBody>
      </p:sp>
      <p:sp>
        <p:nvSpPr>
          <p:cNvPr id="28" name="Arrow"/>
          <p:cNvSpPr/>
          <p:nvPr/>
        </p:nvSpPr>
        <p:spPr>
          <a:xfrm>
            <a:off x="4056666" y="1970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Step 3"/>
          <p:cNvSpPr/>
          <p:nvPr/>
        </p:nvSpPr>
        <p:spPr>
          <a:xfrm>
            <a:off x="4316666" y="150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4416666" y="159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406666" y="193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Task Understanding</a:t>
            </a:r>
          </a:p>
        </p:txBody>
      </p:sp>
      <p:sp>
        <p:nvSpPr>
          <p:cNvPr id="32" name="Arrow"/>
          <p:cNvSpPr/>
          <p:nvPr/>
        </p:nvSpPr>
        <p:spPr>
          <a:xfrm>
            <a:off x="5989999" y="1970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3" name="Step 4"/>
          <p:cNvSpPr/>
          <p:nvPr/>
        </p:nvSpPr>
        <p:spPr>
          <a:xfrm>
            <a:off x="6250000" y="150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Badge"/>
          <p:cNvSpPr/>
          <p:nvPr/>
        </p:nvSpPr>
        <p:spPr>
          <a:xfrm>
            <a:off x="6350000" y="159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340000" y="193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Workflow Planning</a:t>
            </a:r>
          </a:p>
        </p:txBody>
      </p:sp>
      <p:sp>
        <p:nvSpPr>
          <p:cNvPr id="36" name="Arrow"/>
          <p:cNvSpPr/>
          <p:nvPr/>
        </p:nvSpPr>
        <p:spPr>
          <a:xfrm>
            <a:off x="7923333" y="1970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7" name="Step 5"/>
          <p:cNvSpPr/>
          <p:nvPr/>
        </p:nvSpPr>
        <p:spPr>
          <a:xfrm>
            <a:off x="8183333" y="150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Badge"/>
          <p:cNvSpPr/>
          <p:nvPr/>
        </p:nvSpPr>
        <p:spPr>
          <a:xfrm>
            <a:off x="8283333" y="159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273333" y="193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Autonomous Preprocessing</a:t>
            </a:r>
          </a:p>
        </p:txBody>
      </p:sp>
      <p:sp>
        <p:nvSpPr>
          <p:cNvPr id="40" name="Arrow"/>
          <p:cNvSpPr/>
          <p:nvPr/>
        </p:nvSpPr>
        <p:spPr>
          <a:xfrm>
            <a:off x="9856666" y="1970000"/>
            <a:ext cx="220000" cy="26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1" name="Step 6"/>
          <p:cNvSpPr/>
          <p:nvPr/>
        </p:nvSpPr>
        <p:spPr>
          <a:xfrm>
            <a:off x="10116666" y="150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" name="Badge"/>
          <p:cNvSpPr/>
          <p:nvPr/>
        </p:nvSpPr>
        <p:spPr>
          <a:xfrm>
            <a:off x="10216666" y="159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0206666" y="193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Preprocessing Validation</a:t>
            </a:r>
          </a:p>
        </p:txBody>
      </p:sp>
      <p:sp>
        <p:nvSpPr>
          <p:cNvPr id="44" name="Step 7"/>
          <p:cNvSpPr/>
          <p:nvPr/>
        </p:nvSpPr>
        <p:spPr>
          <a:xfrm>
            <a:off x="10116666" y="315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5" name="Badge"/>
          <p:cNvSpPr/>
          <p:nvPr/>
        </p:nvSpPr>
        <p:spPr>
          <a:xfrm>
            <a:off x="10216666" y="324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10206666" y="358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EDA</a:t>
            </a:r>
          </a:p>
        </p:txBody>
      </p:sp>
      <p:sp>
        <p:nvSpPr>
          <p:cNvPr id="47" name="Arrow"/>
          <p:cNvSpPr/>
          <p:nvPr/>
        </p:nvSpPr>
        <p:spPr>
          <a:xfrm>
            <a:off x="9856666" y="3620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8" name="Step 8"/>
          <p:cNvSpPr/>
          <p:nvPr/>
        </p:nvSpPr>
        <p:spPr>
          <a:xfrm>
            <a:off x="8183333" y="315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9" name="Badge"/>
          <p:cNvSpPr/>
          <p:nvPr/>
        </p:nvSpPr>
        <p:spPr>
          <a:xfrm>
            <a:off x="8283333" y="324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273333" y="358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Model Selection &amp; Execution</a:t>
            </a:r>
          </a:p>
        </p:txBody>
      </p:sp>
      <p:sp>
        <p:nvSpPr>
          <p:cNvPr id="51" name="Arrow"/>
          <p:cNvSpPr/>
          <p:nvPr/>
        </p:nvSpPr>
        <p:spPr>
          <a:xfrm>
            <a:off x="7923333" y="3620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2" name="Step 9"/>
          <p:cNvSpPr/>
          <p:nvPr/>
        </p:nvSpPr>
        <p:spPr>
          <a:xfrm>
            <a:off x="6250000" y="315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3" name="Badge"/>
          <p:cNvSpPr/>
          <p:nvPr/>
        </p:nvSpPr>
        <p:spPr>
          <a:xfrm>
            <a:off x="6350000" y="324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6340000" y="358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Model Validation</a:t>
            </a:r>
          </a:p>
        </p:txBody>
      </p:sp>
      <p:sp>
        <p:nvSpPr>
          <p:cNvPr id="55" name="Arrow"/>
          <p:cNvSpPr/>
          <p:nvPr/>
        </p:nvSpPr>
        <p:spPr>
          <a:xfrm>
            <a:off x="5990000" y="3620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6" name="Step 10"/>
          <p:cNvSpPr/>
          <p:nvPr/>
        </p:nvSpPr>
        <p:spPr>
          <a:xfrm>
            <a:off x="4316666" y="315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7" name="Badge"/>
          <p:cNvSpPr/>
          <p:nvPr/>
        </p:nvSpPr>
        <p:spPr>
          <a:xfrm>
            <a:off x="4416666" y="324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4406666" y="358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Iterative Refinement</a:t>
            </a:r>
          </a:p>
        </p:txBody>
      </p:sp>
      <p:sp>
        <p:nvSpPr>
          <p:cNvPr id="59" name="Arrow"/>
          <p:cNvSpPr/>
          <p:nvPr/>
        </p:nvSpPr>
        <p:spPr>
          <a:xfrm>
            <a:off x="4056666" y="3620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0" name="Step 11"/>
          <p:cNvSpPr/>
          <p:nvPr/>
        </p:nvSpPr>
        <p:spPr>
          <a:xfrm>
            <a:off x="2383333" y="315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1" name="Badge"/>
          <p:cNvSpPr/>
          <p:nvPr/>
        </p:nvSpPr>
        <p:spPr>
          <a:xfrm>
            <a:off x="2483333" y="3240000"/>
            <a:ext cx="320000" cy="32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2473333" y="358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4E79"/>
                </a:solidFill>
                <a:latin typeface="Calibri"/>
                <a:cs typeface="Calibri"/>
              </a:rPr>
              <a:t>Insight Generation</a:t>
            </a:r>
          </a:p>
        </p:txBody>
      </p:sp>
      <p:sp>
        <p:nvSpPr>
          <p:cNvPr id="63" name="Arrow"/>
          <p:cNvSpPr/>
          <p:nvPr/>
        </p:nvSpPr>
        <p:spPr>
          <a:xfrm>
            <a:off x="2123333" y="3620000"/>
            <a:ext cx="220000" cy="26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4" name="Step 12"/>
          <p:cNvSpPr/>
          <p:nvPr/>
        </p:nvSpPr>
        <p:spPr>
          <a:xfrm>
            <a:off x="450000" y="3150000"/>
            <a:ext cx="1633333" cy="12000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5" name="Badge"/>
          <p:cNvSpPr/>
          <p:nvPr/>
        </p:nvSpPr>
        <p:spPr>
          <a:xfrm>
            <a:off x="550000" y="3240000"/>
            <a:ext cx="320000" cy="32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540000" y="3580000"/>
            <a:ext cx="1453333" cy="7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Report + Preprocessed Dataset</a:t>
            </a:r>
          </a:p>
        </p:txBody>
      </p:sp>
      <p:sp>
        <p:nvSpPr>
          <p:cNvPr id="67" name="Arrow"/>
          <p:cNvSpPr/>
          <p:nvPr/>
        </p:nvSpPr>
        <p:spPr>
          <a:xfrm>
            <a:off x="10763333" y="2760000"/>
            <a:ext cx="340000" cy="330000"/>
          </a:xfrm>
          <a:prstGeom prst="down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8" name="Card"/>
          <p:cNvSpPr/>
          <p:nvPr/>
        </p:nvSpPr>
        <p:spPr>
          <a:xfrm>
            <a:off x="450000" y="4550000"/>
            <a:ext cx="5500000" cy="850000"/>
          </a:xfrm>
          <a:prstGeom prst="roundRect">
            <a:avLst>
              <a:gd name="adj" fmla="val 6000"/>
            </a:avLst>
          </a:prstGeom>
          <a:solidFill>
            <a:srgbClr val="EDED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9" name="Badge"/>
          <p:cNvSpPr/>
          <p:nvPr/>
        </p:nvSpPr>
        <p:spPr>
          <a:xfrm>
            <a:off x="620000" y="4715000"/>
            <a:ext cx="520000" cy="52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70" name="Icon FaRob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00" y="4839800"/>
            <a:ext cx="270400" cy="270400"/>
          </a:xfrm>
          <a:prstGeom prst="rect">
            <a:avLst/>
          </a:prstGeom>
        </p:spPr>
      </p:pic>
      <p:sp>
        <p:nvSpPr>
          <p:cNvPr id="71" name="Text"/>
          <p:cNvSpPr txBox="1"/>
          <p:nvPr/>
        </p:nvSpPr>
        <p:spPr>
          <a:xfrm>
            <a:off x="1300000" y="4580000"/>
            <a:ext cx="4550000" cy="7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LLM responsibility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Reasoning, planning, tool selection and explanations</a:t>
            </a:r>
          </a:p>
        </p:txBody>
      </p:sp>
      <p:sp>
        <p:nvSpPr>
          <p:cNvPr id="72" name="Card"/>
          <p:cNvSpPr/>
          <p:nvPr/>
        </p:nvSpPr>
        <p:spPr>
          <a:xfrm>
            <a:off x="6250000" y="4550000"/>
            <a:ext cx="5500000" cy="850000"/>
          </a:xfrm>
          <a:prstGeom prst="roundRect">
            <a:avLst>
              <a:gd name="adj" fmla="val 6000"/>
            </a:avLst>
          </a:prstGeom>
          <a:solidFill>
            <a:srgbClr val="E2F5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73" name="Badge"/>
          <p:cNvSpPr/>
          <p:nvPr/>
        </p:nvSpPr>
        <p:spPr>
          <a:xfrm>
            <a:off x="6420000" y="4715000"/>
            <a:ext cx="520000" cy="52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74" name="Icon Fa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800" y="4839800"/>
            <a:ext cx="270400" cy="270400"/>
          </a:xfrm>
          <a:prstGeom prst="rect">
            <a:avLst/>
          </a:prstGeom>
        </p:spPr>
      </p:pic>
      <p:sp>
        <p:nvSpPr>
          <p:cNvPr id="75" name="Text"/>
          <p:cNvSpPr txBox="1"/>
          <p:nvPr/>
        </p:nvSpPr>
        <p:spPr>
          <a:xfrm>
            <a:off x="7100000" y="4580000"/>
            <a:ext cx="4550000" cy="7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1F4E79"/>
                </a:solidFill>
                <a:latin typeface="Calibri"/>
                <a:cs typeface="Calibri"/>
              </a:rPr>
              <a:t>Python responsibility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Data transformation, statistics, ML and file generation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1500000" y="5530000"/>
            <a:ext cx="102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1F4E79"/>
                </a:solidFill>
                <a:latin typeface="Calibri"/>
                <a:cs typeface="Calibri"/>
              </a:rPr>
              <a:t>This separation keeps execution deterministic and reproducible.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Data Preprocessing &amp; EDA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0000" y="1500000"/>
            <a:ext cx="77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Autonomous preprocessing</a:t>
            </a:r>
          </a:p>
        </p:txBody>
      </p:sp>
      <p:sp>
        <p:nvSpPr>
          <p:cNvPr id="22" name="Card"/>
          <p:cNvSpPr/>
          <p:nvPr/>
        </p:nvSpPr>
        <p:spPr>
          <a:xfrm>
            <a:off x="450000" y="2000000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3" name="Shape 23"/>
          <p:cNvSpPr/>
          <p:nvPr/>
        </p:nvSpPr>
        <p:spPr>
          <a:xfrm>
            <a:off x="450000" y="2000000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1E88C7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Missing values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650000" y="2000000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Choose suitable numerical / categorical imputation</a:t>
            </a:r>
          </a:p>
        </p:txBody>
      </p:sp>
      <p:sp>
        <p:nvSpPr>
          <p:cNvPr id="25" name="Card"/>
          <p:cNvSpPr/>
          <p:nvPr/>
        </p:nvSpPr>
        <p:spPr>
          <a:xfrm>
            <a:off x="450000" y="2508571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Shape 26"/>
          <p:cNvSpPr/>
          <p:nvPr/>
        </p:nvSpPr>
        <p:spPr>
          <a:xfrm>
            <a:off x="450000" y="2508571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5B5FC7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Duplicates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650000" y="2508571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Detect and remove exact duplicates where appropriate</a:t>
            </a:r>
          </a:p>
        </p:txBody>
      </p:sp>
      <p:sp>
        <p:nvSpPr>
          <p:cNvPr id="28" name="Card"/>
          <p:cNvSpPr/>
          <p:nvPr/>
        </p:nvSpPr>
        <p:spPr>
          <a:xfrm>
            <a:off x="450000" y="3017142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Shape 29"/>
          <p:cNvSpPr/>
          <p:nvPr/>
        </p:nvSpPr>
        <p:spPr>
          <a:xfrm>
            <a:off x="450000" y="3017142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17968A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Data types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650000" y="3017142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Detect and correct inconsistent representations</a:t>
            </a:r>
          </a:p>
        </p:txBody>
      </p:sp>
      <p:sp>
        <p:nvSpPr>
          <p:cNvPr id="31" name="Card"/>
          <p:cNvSpPr/>
          <p:nvPr/>
        </p:nvSpPr>
        <p:spPr>
          <a:xfrm>
            <a:off x="450000" y="3525714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450000" y="3525714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5A9E2F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Categorical data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2650000" y="3525714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Choose one-hot / ordinal encoding based on characteristics</a:t>
            </a:r>
          </a:p>
        </p:txBody>
      </p:sp>
      <p:sp>
        <p:nvSpPr>
          <p:cNvPr id="34" name="Card"/>
          <p:cNvSpPr/>
          <p:nvPr/>
        </p:nvSpPr>
        <p:spPr>
          <a:xfrm>
            <a:off x="450000" y="4034285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450000" y="4034285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1F4E79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Numerical data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2650000" y="4034285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Scale when required by the downstream model</a:t>
            </a:r>
          </a:p>
        </p:txBody>
      </p:sp>
      <p:sp>
        <p:nvSpPr>
          <p:cNvPr id="37" name="Card"/>
          <p:cNvSpPr/>
          <p:nvPr/>
        </p:nvSpPr>
        <p:spPr>
          <a:xfrm>
            <a:off x="450000" y="4542857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Shape 38"/>
          <p:cNvSpPr/>
          <p:nvPr/>
        </p:nvSpPr>
        <p:spPr>
          <a:xfrm>
            <a:off x="450000" y="4542857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0E7FA6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Outliers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2650000" y="4542857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Detect using statistical methods; retain, transform or flag based on context</a:t>
            </a:r>
          </a:p>
        </p:txBody>
      </p:sp>
      <p:sp>
        <p:nvSpPr>
          <p:cNvPr id="40" name="Card"/>
          <p:cNvSpPr/>
          <p:nvPr/>
        </p:nvSpPr>
        <p:spPr>
          <a:xfrm>
            <a:off x="450000" y="5051428"/>
            <a:ext cx="77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1" name="Shape 41"/>
          <p:cNvSpPr/>
          <p:nvPr/>
        </p:nvSpPr>
        <p:spPr>
          <a:xfrm>
            <a:off x="450000" y="5051428"/>
            <a:ext cx="2050000" cy="448571"/>
          </a:xfrm>
          <a:prstGeom prst="roundRect">
            <a:avLst>
              <a:gd name="adj" fmla="val 14000"/>
            </a:avLst>
          </a:prstGeom>
          <a:solidFill>
            <a:srgbClr val="1E88C7"/>
          </a:solidFill>
          <a:ln>
            <a:noFill/>
          </a:ln>
        </p:spPr>
        <p:txBody>
          <a:bodyPr wrap="square" lIns="160000" tIns="0" rIns="6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Identifier columns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2650000" y="5051428"/>
            <a:ext cx="54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Detect high-cardinality ID-like features; exclude from modeling when justified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500000" y="1500000"/>
            <a:ext cx="32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Output</a:t>
            </a:r>
          </a:p>
        </p:txBody>
      </p:sp>
      <p:sp>
        <p:nvSpPr>
          <p:cNvPr id="44" name="Shape 44"/>
          <p:cNvSpPr/>
          <p:nvPr/>
        </p:nvSpPr>
        <p:spPr>
          <a:xfrm>
            <a:off x="8500000" y="2000000"/>
            <a:ext cx="3250000" cy="900000"/>
          </a:xfrm>
          <a:prstGeom prst="roundRect">
            <a:avLst>
              <a:gd name="adj" fmla="val 12000"/>
            </a:avLst>
          </a:prstGeom>
          <a:solidFill>
            <a:srgbClr val="E6EDF4"/>
          </a:solidFill>
          <a:ln w="12700">
            <a:solidFill>
              <a:srgbClr val="CFE1EF"/>
            </a:solidFill>
          </a:ln>
        </p:spPr>
        <p:txBody>
          <a:bodyPr wrap="square" lIns="120000" tIns="0" rIns="12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Original dataset</a:t>
            </a:r>
          </a:p>
        </p:txBody>
      </p:sp>
      <p:sp>
        <p:nvSpPr>
          <p:cNvPr id="45" name="Arrow"/>
          <p:cNvSpPr/>
          <p:nvPr/>
        </p:nvSpPr>
        <p:spPr>
          <a:xfrm>
            <a:off x="9955000" y="2950000"/>
            <a:ext cx="340000" cy="300000"/>
          </a:xfrm>
          <a:prstGeom prst="downArrow">
            <a:avLst>
              <a:gd name="adj1" fmla="val 46000"/>
              <a:gd name="adj2" fmla="val 56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6" name="Shape 46"/>
          <p:cNvSpPr/>
          <p:nvPr/>
        </p:nvSpPr>
        <p:spPr>
          <a:xfrm>
            <a:off x="8500000" y="3300000"/>
            <a:ext cx="3250000" cy="9000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120000" tIns="0" rIns="12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Processed dataset</a:t>
            </a:r>
          </a:p>
        </p:txBody>
      </p:sp>
      <p:sp>
        <p:nvSpPr>
          <p:cNvPr id="47" name="Arrow"/>
          <p:cNvSpPr/>
          <p:nvPr/>
        </p:nvSpPr>
        <p:spPr>
          <a:xfrm>
            <a:off x="9955000" y="4250000"/>
            <a:ext cx="340000" cy="300000"/>
          </a:xfrm>
          <a:prstGeom prst="downArrow">
            <a:avLst>
              <a:gd name="adj1" fmla="val 46000"/>
              <a:gd name="adj2" fmla="val 56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8" name="Shape 48"/>
          <p:cNvSpPr/>
          <p:nvPr/>
        </p:nvSpPr>
        <p:spPr>
          <a:xfrm>
            <a:off x="8500000" y="4600000"/>
            <a:ext cx="3250000" cy="9000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</p:spPr>
        <p:txBody>
          <a:bodyPr wrap="square" lIns="120000" tIns="0" rIns="12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Downloadable CSV + preprocessing report</a:t>
            </a:r>
          </a:p>
        </p:txBody>
      </p:sp>
      <p:sp>
        <p:nvSpPr>
          <p:cNvPr id="49" name="Badge"/>
          <p:cNvSpPr/>
          <p:nvPr/>
        </p:nvSpPr>
        <p:spPr>
          <a:xfrm>
            <a:off x="11420000" y="4450000"/>
            <a:ext cx="420000" cy="42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50" name="Icon FaDownlo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800" y="4550800"/>
            <a:ext cx="218400" cy="218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Approach, Algorithms &amp; Tools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0000" y="1500000"/>
            <a:ext cx="6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Agentic approach</a:t>
            </a:r>
          </a:p>
        </p:txBody>
      </p:sp>
      <p:sp>
        <p:nvSpPr>
          <p:cNvPr id="22" name="Card"/>
          <p:cNvSpPr/>
          <p:nvPr/>
        </p:nvSpPr>
        <p:spPr>
          <a:xfrm>
            <a:off x="450000" y="2000000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3" name="Text"/>
          <p:cNvSpPr txBox="1"/>
          <p:nvPr/>
        </p:nvSpPr>
        <p:spPr>
          <a:xfrm>
            <a:off x="630000" y="2000000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LangGraph / LangChain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800000" y="2000000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Workflow orchestration, conditional transitions</a:t>
            </a:r>
          </a:p>
        </p:txBody>
      </p:sp>
      <p:sp>
        <p:nvSpPr>
          <p:cNvPr id="25" name="Card"/>
          <p:cNvSpPr/>
          <p:nvPr/>
        </p:nvSpPr>
        <p:spPr>
          <a:xfrm>
            <a:off x="450000" y="2508571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Text"/>
          <p:cNvSpPr txBox="1"/>
          <p:nvPr/>
        </p:nvSpPr>
        <p:spPr>
          <a:xfrm>
            <a:off x="630000" y="2508571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Local LLM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800000" y="2508571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Ollama + Phi-4-mini</a:t>
            </a:r>
          </a:p>
        </p:txBody>
      </p:sp>
      <p:sp>
        <p:nvSpPr>
          <p:cNvPr id="28" name="Card"/>
          <p:cNvSpPr/>
          <p:nvPr/>
        </p:nvSpPr>
        <p:spPr>
          <a:xfrm>
            <a:off x="450000" y="3017142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Text"/>
          <p:cNvSpPr txBox="1"/>
          <p:nvPr/>
        </p:nvSpPr>
        <p:spPr>
          <a:xfrm>
            <a:off x="630000" y="3017142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Pandas / NumPy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2800000" y="3017142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Deterministic data processing</a:t>
            </a:r>
          </a:p>
        </p:txBody>
      </p:sp>
      <p:sp>
        <p:nvSpPr>
          <p:cNvPr id="31" name="Card"/>
          <p:cNvSpPr/>
          <p:nvPr/>
        </p:nvSpPr>
        <p:spPr>
          <a:xfrm>
            <a:off x="450000" y="3525714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2" name="Text"/>
          <p:cNvSpPr txBox="1"/>
          <p:nvPr/>
        </p:nvSpPr>
        <p:spPr>
          <a:xfrm>
            <a:off x="630000" y="3525714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Scikit-learn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2800000" y="3525714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ML and evaluation</a:t>
            </a:r>
          </a:p>
        </p:txBody>
      </p:sp>
      <p:sp>
        <p:nvSpPr>
          <p:cNvPr id="34" name="Card"/>
          <p:cNvSpPr/>
          <p:nvPr/>
        </p:nvSpPr>
        <p:spPr>
          <a:xfrm>
            <a:off x="450000" y="4034285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5" name="Text"/>
          <p:cNvSpPr txBox="1"/>
          <p:nvPr/>
        </p:nvSpPr>
        <p:spPr>
          <a:xfrm>
            <a:off x="630000" y="4034285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Matplotlib / Plotly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2800000" y="4034285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Visualization</a:t>
            </a:r>
          </a:p>
        </p:txBody>
      </p:sp>
      <p:sp>
        <p:nvSpPr>
          <p:cNvPr id="37" name="Card"/>
          <p:cNvSpPr/>
          <p:nvPr/>
        </p:nvSpPr>
        <p:spPr>
          <a:xfrm>
            <a:off x="450000" y="4542857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Text"/>
          <p:cNvSpPr txBox="1"/>
          <p:nvPr/>
        </p:nvSpPr>
        <p:spPr>
          <a:xfrm>
            <a:off x="630000" y="4542857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Streamlit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2800000" y="4542857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User interface</a:t>
            </a:r>
          </a:p>
        </p:txBody>
      </p:sp>
      <p:sp>
        <p:nvSpPr>
          <p:cNvPr id="40" name="Card"/>
          <p:cNvSpPr/>
          <p:nvPr/>
        </p:nvSpPr>
        <p:spPr>
          <a:xfrm>
            <a:off x="450000" y="5051428"/>
            <a:ext cx="6000000" cy="448571"/>
          </a:xfrm>
          <a:prstGeom prst="roundRect">
            <a:avLst>
              <a:gd name="adj" fmla="val 14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1" name="Text"/>
          <p:cNvSpPr txBox="1"/>
          <p:nvPr/>
        </p:nvSpPr>
        <p:spPr>
          <a:xfrm>
            <a:off x="630000" y="5051428"/>
            <a:ext cx="210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F4E79"/>
                </a:solidFill>
                <a:latin typeface="Calibri"/>
                <a:cs typeface="Calibri"/>
              </a:rPr>
              <a:t>SQLite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2800000" y="5051428"/>
            <a:ext cx="3550000" cy="448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243B53"/>
                </a:solidFill>
                <a:latin typeface="Calibri"/>
                <a:cs typeface="Calibri"/>
              </a:rPr>
              <a:t>Execution metadata and logging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750000" y="15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4E79"/>
                </a:solidFill>
                <a:latin typeface="Calibri"/>
                <a:cs typeface="Calibri"/>
              </a:rPr>
              <a:t>Models &amp; metrics</a:t>
            </a:r>
          </a:p>
        </p:txBody>
      </p:sp>
      <p:sp>
        <p:nvSpPr>
          <p:cNvPr id="44" name="Card"/>
          <p:cNvSpPr/>
          <p:nvPr/>
        </p:nvSpPr>
        <p:spPr>
          <a:xfrm>
            <a:off x="6750000" y="2000000"/>
            <a:ext cx="5000000" cy="106666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1EF"/>
            </a:solidFill>
          </a:ln>
          <a:effectLst>
            <a:outerShdw blurRad="76200" dist="19050" dir="5400000" algn="t" rotWithShape="0">
              <a:srgbClr val="1F4E79">
                <a:alpha val="16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5" name="Shape 45"/>
          <p:cNvSpPr/>
          <p:nvPr/>
        </p:nvSpPr>
        <p:spPr>
          <a:xfrm>
            <a:off x="6930000" y="2150000"/>
            <a:ext cx="1500000" cy="340000"/>
          </a:xfrm>
          <a:prstGeom prst="roundRect">
            <a:avLst>
              <a:gd name="adj" fmla="val 5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6930000" y="2540000"/>
            <a:ext cx="4640000" cy="4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50" b="1" i="0" dirty="0">
                <a:solidFill>
                  <a:srgbClr val="1F4E79"/>
                </a:solidFill>
                <a:latin typeface="Calibri"/>
                <a:cs typeface="Calibri"/>
              </a:rPr>
              <a:t>Models: </a:t>
            </a:r>
            <a:r>
              <a:rPr lang="en-US" sz="1450" b="0" i="0" dirty="0">
                <a:solidFill>
                  <a:srgbClr val="243B53"/>
                </a:solidFill>
                <a:latin typeface="Calibri"/>
                <a:cs typeface="Calibri"/>
              </a:rPr>
              <a:t>Logistic Regression, Random Forest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dirty="0">
                <a:solidFill>
                  <a:srgbClr val="1F4E79"/>
                </a:solidFill>
                <a:latin typeface="Calibri"/>
                <a:cs typeface="Calibri"/>
              </a:rPr>
              <a:t>Metrics: </a:t>
            </a:r>
            <a:r>
              <a:rPr lang="en-US" sz="1450" b="0" i="0" dirty="0">
                <a:solidFill>
                  <a:srgbClr val="243B53"/>
                </a:solidFill>
                <a:latin typeface="Calibri"/>
                <a:cs typeface="Calibri"/>
              </a:rPr>
              <a:t>Accuracy, Precision, Recall, F1</a:t>
            </a:r>
          </a:p>
        </p:txBody>
      </p:sp>
      <p:sp>
        <p:nvSpPr>
          <p:cNvPr id="47" name="Card"/>
          <p:cNvSpPr/>
          <p:nvPr/>
        </p:nvSpPr>
        <p:spPr>
          <a:xfrm>
            <a:off x="6750000" y="3216666"/>
            <a:ext cx="5000000" cy="106666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1EF"/>
            </a:solidFill>
          </a:ln>
          <a:effectLst>
            <a:outerShdw blurRad="76200" dist="19050" dir="5400000" algn="t" rotWithShape="0">
              <a:srgbClr val="1F4E79">
                <a:alpha val="16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8" name="Shape 48"/>
          <p:cNvSpPr/>
          <p:nvPr/>
        </p:nvSpPr>
        <p:spPr>
          <a:xfrm>
            <a:off x="6930000" y="3366666"/>
            <a:ext cx="1500000" cy="340000"/>
          </a:xfrm>
          <a:prstGeom prst="roundRect">
            <a:avLst>
              <a:gd name="adj" fmla="val 50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6930000" y="3756666"/>
            <a:ext cx="4640000" cy="4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50" b="1" i="0" dirty="0">
                <a:solidFill>
                  <a:srgbClr val="1F4E79"/>
                </a:solidFill>
                <a:latin typeface="Calibri"/>
                <a:cs typeface="Calibri"/>
              </a:rPr>
              <a:t>Models: </a:t>
            </a:r>
            <a:r>
              <a:rPr lang="en-US" sz="1450" b="0" i="0" dirty="0">
                <a:solidFill>
                  <a:srgbClr val="243B53"/>
                </a:solidFill>
                <a:latin typeface="Calibri"/>
                <a:cs typeface="Calibri"/>
              </a:rPr>
              <a:t>Linear Regression, Random Forest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dirty="0">
                <a:solidFill>
                  <a:srgbClr val="1F4E79"/>
                </a:solidFill>
                <a:latin typeface="Calibri"/>
                <a:cs typeface="Calibri"/>
              </a:rPr>
              <a:t>Metrics: </a:t>
            </a:r>
            <a:r>
              <a:rPr lang="en-US" sz="1450" b="0" i="0" dirty="0">
                <a:solidFill>
                  <a:srgbClr val="243B53"/>
                </a:solidFill>
                <a:latin typeface="Calibri"/>
                <a:cs typeface="Calibri"/>
              </a:rPr>
              <a:t>MAE, RMSE, R²</a:t>
            </a:r>
          </a:p>
        </p:txBody>
      </p:sp>
      <p:sp>
        <p:nvSpPr>
          <p:cNvPr id="50" name="Card"/>
          <p:cNvSpPr/>
          <p:nvPr/>
        </p:nvSpPr>
        <p:spPr>
          <a:xfrm>
            <a:off x="6750000" y="4433333"/>
            <a:ext cx="5000000" cy="106666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E1EF"/>
            </a:solidFill>
          </a:ln>
          <a:effectLst>
            <a:outerShdw blurRad="76200" dist="19050" dir="5400000" algn="t" rotWithShape="0">
              <a:srgbClr val="1F4E79">
                <a:alpha val="16000"/>
              </a:srgbClr>
            </a:outerShdw>
          </a:effectLst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6930000" y="4583333"/>
            <a:ext cx="1500000" cy="340000"/>
          </a:xfrm>
          <a:prstGeom prst="roundRect">
            <a:avLst>
              <a:gd name="adj" fmla="val 50000"/>
            </a:avLst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Clustering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930000" y="4973333"/>
            <a:ext cx="4640000" cy="48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50" b="1" i="0" dirty="0">
                <a:solidFill>
                  <a:srgbClr val="1F4E79"/>
                </a:solidFill>
                <a:latin typeface="Calibri"/>
                <a:cs typeface="Calibri"/>
              </a:rPr>
              <a:t>Models: </a:t>
            </a:r>
            <a:r>
              <a:rPr lang="en-US" sz="1450" b="0" i="0" dirty="0">
                <a:solidFill>
                  <a:srgbClr val="243B53"/>
                </a:solidFill>
                <a:latin typeface="Calibri"/>
                <a:cs typeface="Calibri"/>
              </a:rPr>
              <a:t>K-Means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dirty="0">
                <a:solidFill>
                  <a:srgbClr val="1F4E79"/>
                </a:solidFill>
                <a:latin typeface="Calibri"/>
                <a:cs typeface="Calibri"/>
              </a:rPr>
              <a:t>Metrics: </a:t>
            </a:r>
            <a:r>
              <a:rPr lang="en-US" sz="1450" b="0" i="0" dirty="0">
                <a:solidFill>
                  <a:srgbClr val="243B53"/>
                </a:solidFill>
                <a:latin typeface="Calibri"/>
                <a:cs typeface="Calibri"/>
              </a:rPr>
              <a:t>Silhouette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Project Plan &amp; Milestones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Card"/>
          <p:cNvSpPr/>
          <p:nvPr/>
        </p:nvSpPr>
        <p:spPr>
          <a:xfrm>
            <a:off x="450000" y="1500000"/>
            <a:ext cx="3600000" cy="4000000"/>
          </a:xfrm>
          <a:prstGeom prst="roundRect">
            <a:avLst>
              <a:gd name="adj" fmla="val 6000"/>
            </a:avLst>
          </a:prstGeom>
          <a:solidFill>
            <a:srgbClr val="E2F5F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650000" y="1690000"/>
            <a:ext cx="1150000" cy="320000"/>
          </a:xfrm>
          <a:prstGeom prst="roundRect">
            <a:avLst>
              <a:gd name="adj" fmla="val 50000"/>
            </a:avLst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PHASE 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50000" y="2060000"/>
            <a:ext cx="3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Implemented / in progress</a:t>
            </a:r>
          </a:p>
        </p:txBody>
      </p:sp>
      <p:sp>
        <p:nvSpPr>
          <p:cNvPr id="24" name="Badge"/>
          <p:cNvSpPr/>
          <p:nvPr/>
        </p:nvSpPr>
        <p:spPr>
          <a:xfrm>
            <a:off x="650000" y="2750000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5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0" y="2812400"/>
            <a:ext cx="135200" cy="135200"/>
          </a:xfrm>
          <a:prstGeom prst="rect">
            <a:avLst/>
          </a:prstGeom>
        </p:spPr>
      </p:pic>
      <p:sp>
        <p:nvSpPr>
          <p:cNvPr id="26" name="Text"/>
          <p:cNvSpPr txBox="1"/>
          <p:nvPr/>
        </p:nvSpPr>
        <p:spPr>
          <a:xfrm>
            <a:off x="1050000" y="2600000"/>
            <a:ext cx="28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Dataset profiling</a:t>
            </a:r>
          </a:p>
        </p:txBody>
      </p:sp>
      <p:sp>
        <p:nvSpPr>
          <p:cNvPr id="27" name="Badge"/>
          <p:cNvSpPr/>
          <p:nvPr/>
        </p:nvSpPr>
        <p:spPr>
          <a:xfrm>
            <a:off x="650000" y="3310000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28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0" y="3372400"/>
            <a:ext cx="135200" cy="13520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1050000" y="3160000"/>
            <a:ext cx="28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Dynamic task detection</a:t>
            </a:r>
          </a:p>
        </p:txBody>
      </p:sp>
      <p:sp>
        <p:nvSpPr>
          <p:cNvPr id="30" name="Badge"/>
          <p:cNvSpPr/>
          <p:nvPr/>
        </p:nvSpPr>
        <p:spPr>
          <a:xfrm>
            <a:off x="650000" y="3870000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1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0" y="3932400"/>
            <a:ext cx="135200" cy="135200"/>
          </a:xfrm>
          <a:prstGeom prst="rect">
            <a:avLst/>
          </a:prstGeom>
        </p:spPr>
      </p:pic>
      <p:sp>
        <p:nvSpPr>
          <p:cNvPr id="32" name="Text"/>
          <p:cNvSpPr txBox="1"/>
          <p:nvPr/>
        </p:nvSpPr>
        <p:spPr>
          <a:xfrm>
            <a:off x="1050000" y="3720000"/>
            <a:ext cx="28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Dynamic model selection</a:t>
            </a:r>
          </a:p>
        </p:txBody>
      </p:sp>
      <p:sp>
        <p:nvSpPr>
          <p:cNvPr id="33" name="Badge"/>
          <p:cNvSpPr/>
          <p:nvPr/>
        </p:nvSpPr>
        <p:spPr>
          <a:xfrm>
            <a:off x="650000" y="4430000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4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0" y="4492400"/>
            <a:ext cx="135200" cy="135200"/>
          </a:xfrm>
          <a:prstGeom prst="rect">
            <a:avLst/>
          </a:prstGeom>
        </p:spPr>
      </p:pic>
      <p:sp>
        <p:nvSpPr>
          <p:cNvPr id="35" name="Text"/>
          <p:cNvSpPr txBox="1"/>
          <p:nvPr/>
        </p:nvSpPr>
        <p:spPr>
          <a:xfrm>
            <a:off x="1050000" y="4280000"/>
            <a:ext cx="28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Profile, Planner, EDA, Model, Validation and Insight agents</a:t>
            </a:r>
          </a:p>
        </p:txBody>
      </p:sp>
      <p:sp>
        <p:nvSpPr>
          <p:cNvPr id="36" name="Badge"/>
          <p:cNvSpPr/>
          <p:nvPr/>
        </p:nvSpPr>
        <p:spPr>
          <a:xfrm>
            <a:off x="650000" y="4990000"/>
            <a:ext cx="260000" cy="26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37" name="Icon FaChe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0" y="5052400"/>
            <a:ext cx="135200" cy="135200"/>
          </a:xfrm>
          <a:prstGeom prst="rect">
            <a:avLst/>
          </a:prstGeom>
        </p:spPr>
      </p:pic>
      <p:sp>
        <p:nvSpPr>
          <p:cNvPr id="38" name="Text"/>
          <p:cNvSpPr txBox="1"/>
          <p:nvPr/>
        </p:nvSpPr>
        <p:spPr>
          <a:xfrm>
            <a:off x="1050000" y="4840000"/>
            <a:ext cx="285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Model and workflow validation</a:t>
            </a:r>
          </a:p>
        </p:txBody>
      </p:sp>
      <p:sp>
        <p:nvSpPr>
          <p:cNvPr id="39" name="Card"/>
          <p:cNvSpPr/>
          <p:nvPr/>
        </p:nvSpPr>
        <p:spPr>
          <a:xfrm>
            <a:off x="4300000" y="1500000"/>
            <a:ext cx="3600000" cy="4000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0" name="Shape 40"/>
          <p:cNvSpPr/>
          <p:nvPr/>
        </p:nvSpPr>
        <p:spPr>
          <a:xfrm>
            <a:off x="4500000" y="1690000"/>
            <a:ext cx="1150000" cy="320000"/>
          </a:xfrm>
          <a:prstGeom prst="roundRect">
            <a:avLst>
              <a:gd name="adj" fmla="val 50000"/>
            </a:avLst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PHASE 2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4500000" y="2060000"/>
            <a:ext cx="32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1F4E79"/>
                </a:solidFill>
                <a:latin typeface="Calibri"/>
                <a:cs typeface="Calibri"/>
              </a:rPr>
              <a:t>Current enhancements</a:t>
            </a:r>
          </a:p>
        </p:txBody>
      </p:sp>
      <p:sp>
        <p:nvSpPr>
          <p:cNvPr id="42" name="Badge"/>
          <p:cNvSpPr/>
          <p:nvPr/>
        </p:nvSpPr>
        <p:spPr>
          <a:xfrm>
            <a:off x="4500000" y="2703333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3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00" y="2765733"/>
            <a:ext cx="135200" cy="135200"/>
          </a:xfrm>
          <a:prstGeom prst="rect">
            <a:avLst/>
          </a:prstGeom>
        </p:spPr>
      </p:pic>
      <p:sp>
        <p:nvSpPr>
          <p:cNvPr id="44" name="Text"/>
          <p:cNvSpPr txBox="1"/>
          <p:nvPr/>
        </p:nvSpPr>
        <p:spPr>
          <a:xfrm>
            <a:off x="4900000" y="2600000"/>
            <a:ext cx="2850000" cy="46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Autonomous preprocessing agent</a:t>
            </a:r>
          </a:p>
        </p:txBody>
      </p:sp>
      <p:sp>
        <p:nvSpPr>
          <p:cNvPr id="45" name="Badge"/>
          <p:cNvSpPr/>
          <p:nvPr/>
        </p:nvSpPr>
        <p:spPr>
          <a:xfrm>
            <a:off x="4500000" y="3170000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6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00" y="3232400"/>
            <a:ext cx="135200" cy="135200"/>
          </a:xfrm>
          <a:prstGeom prst="rect">
            <a:avLst/>
          </a:prstGeom>
        </p:spPr>
      </p:pic>
      <p:sp>
        <p:nvSpPr>
          <p:cNvPr id="47" name="Text"/>
          <p:cNvSpPr txBox="1"/>
          <p:nvPr/>
        </p:nvSpPr>
        <p:spPr>
          <a:xfrm>
            <a:off x="4900000" y="3066666"/>
            <a:ext cx="2850000" cy="46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Dataset-specific preprocessing plan</a:t>
            </a:r>
          </a:p>
        </p:txBody>
      </p:sp>
      <p:sp>
        <p:nvSpPr>
          <p:cNvPr id="48" name="Badge"/>
          <p:cNvSpPr/>
          <p:nvPr/>
        </p:nvSpPr>
        <p:spPr>
          <a:xfrm>
            <a:off x="4500000" y="3636666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49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00" y="3699066"/>
            <a:ext cx="135200" cy="135200"/>
          </a:xfrm>
          <a:prstGeom prst="rect">
            <a:avLst/>
          </a:prstGeom>
        </p:spPr>
      </p:pic>
      <p:sp>
        <p:nvSpPr>
          <p:cNvPr id="50" name="Text"/>
          <p:cNvSpPr txBox="1"/>
          <p:nvPr/>
        </p:nvSpPr>
        <p:spPr>
          <a:xfrm>
            <a:off x="4900000" y="3533333"/>
            <a:ext cx="2850000" cy="46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Preprocessing validation</a:t>
            </a:r>
          </a:p>
        </p:txBody>
      </p:sp>
      <p:sp>
        <p:nvSpPr>
          <p:cNvPr id="51" name="Badge"/>
          <p:cNvSpPr/>
          <p:nvPr/>
        </p:nvSpPr>
        <p:spPr>
          <a:xfrm>
            <a:off x="4500000" y="4103333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52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00" y="4165733"/>
            <a:ext cx="135200" cy="135200"/>
          </a:xfrm>
          <a:prstGeom prst="rect">
            <a:avLst/>
          </a:prstGeom>
        </p:spPr>
      </p:pic>
      <p:sp>
        <p:nvSpPr>
          <p:cNvPr id="53" name="Text"/>
          <p:cNvSpPr txBox="1"/>
          <p:nvPr/>
        </p:nvSpPr>
        <p:spPr>
          <a:xfrm>
            <a:off x="4900000" y="4000000"/>
            <a:ext cx="2850000" cy="46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Downloadable processed CSV</a:t>
            </a:r>
          </a:p>
        </p:txBody>
      </p:sp>
      <p:sp>
        <p:nvSpPr>
          <p:cNvPr id="54" name="Badge"/>
          <p:cNvSpPr/>
          <p:nvPr/>
        </p:nvSpPr>
        <p:spPr>
          <a:xfrm>
            <a:off x="4500000" y="4570000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55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00" y="4632400"/>
            <a:ext cx="135200" cy="135200"/>
          </a:xfrm>
          <a:prstGeom prst="rect">
            <a:avLst/>
          </a:prstGeom>
        </p:spPr>
      </p:pic>
      <p:sp>
        <p:nvSpPr>
          <p:cNvPr id="56" name="Text"/>
          <p:cNvSpPr txBox="1"/>
          <p:nvPr/>
        </p:nvSpPr>
        <p:spPr>
          <a:xfrm>
            <a:off x="4900000" y="4466666"/>
            <a:ext cx="2850000" cy="46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Preprocessing decision log / report</a:t>
            </a:r>
          </a:p>
        </p:txBody>
      </p:sp>
      <p:sp>
        <p:nvSpPr>
          <p:cNvPr id="57" name="Badge"/>
          <p:cNvSpPr/>
          <p:nvPr/>
        </p:nvSpPr>
        <p:spPr>
          <a:xfrm>
            <a:off x="4500000" y="5036666"/>
            <a:ext cx="260000" cy="26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58" name="Icon FaArrowR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400" y="5099066"/>
            <a:ext cx="135200" cy="135200"/>
          </a:xfrm>
          <a:prstGeom prst="rect">
            <a:avLst/>
          </a:prstGeom>
        </p:spPr>
      </p:pic>
      <p:sp>
        <p:nvSpPr>
          <p:cNvPr id="59" name="Text"/>
          <p:cNvSpPr txBox="1"/>
          <p:nvPr/>
        </p:nvSpPr>
        <p:spPr>
          <a:xfrm>
            <a:off x="4900000" y="4933333"/>
            <a:ext cx="2850000" cy="466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43B53"/>
                </a:solidFill>
                <a:latin typeface="Calibri"/>
                <a:cs typeface="Calibri"/>
              </a:rPr>
              <a:t>Local-first Ollama + Phi-4-mini to avoid paid API quotas</a:t>
            </a:r>
          </a:p>
        </p:txBody>
      </p:sp>
      <p:sp>
        <p:nvSpPr>
          <p:cNvPr id="60" name="Card"/>
          <p:cNvSpPr/>
          <p:nvPr/>
        </p:nvSpPr>
        <p:spPr>
          <a:xfrm>
            <a:off x="8150000" y="1500000"/>
            <a:ext cx="3600000" cy="400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1" name="Shape 61"/>
          <p:cNvSpPr/>
          <p:nvPr/>
        </p:nvSpPr>
        <p:spPr>
          <a:xfrm>
            <a:off x="8350000" y="1690000"/>
            <a:ext cx="2100000" cy="320000"/>
          </a:xfrm>
          <a:prstGeom prst="roundRect">
            <a:avLst>
              <a:gd name="adj" fmla="val 50000"/>
            </a:avLst>
          </a:prstGeom>
          <a:solidFill>
            <a:srgbClr val="1BA9E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RESEARCH EVALUATION</a:t>
            </a:r>
          </a:p>
        </p:txBody>
      </p:sp>
      <p:sp>
        <p:nvSpPr>
          <p:cNvPr id="62" name="Shape 62"/>
          <p:cNvSpPr/>
          <p:nvPr/>
        </p:nvSpPr>
        <p:spPr>
          <a:xfrm>
            <a:off x="8350000" y="2140000"/>
            <a:ext cx="1300000" cy="8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1F4E79"/>
                </a:solidFill>
                <a:latin typeface="Calibri"/>
                <a:cs typeface="Calibri"/>
              </a:rPr>
              <a:t>Fixed Data Science pipeline</a:t>
            </a:r>
          </a:p>
        </p:txBody>
      </p:sp>
      <p:sp>
        <p:nvSpPr>
          <p:cNvPr id="63" name="Shape 63"/>
          <p:cNvSpPr/>
          <p:nvPr/>
        </p:nvSpPr>
        <p:spPr>
          <a:xfrm>
            <a:off x="9760000" y="2375000"/>
            <a:ext cx="380000" cy="380000"/>
          </a:xfrm>
          <a:prstGeom prst="ellipse">
            <a:avLst/>
          </a:prstGeom>
          <a:solidFill>
            <a:srgbClr val="1BA9E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4E79"/>
                </a:solidFill>
                <a:latin typeface="Calibri"/>
                <a:cs typeface="Calibri"/>
              </a:rPr>
              <a:t>VS</a:t>
            </a:r>
          </a:p>
        </p:txBody>
      </p:sp>
      <p:sp>
        <p:nvSpPr>
          <p:cNvPr id="64" name="Shape 64"/>
          <p:cNvSpPr/>
          <p:nvPr/>
        </p:nvSpPr>
        <p:spPr>
          <a:xfrm>
            <a:off x="10250000" y="2140000"/>
            <a:ext cx="1300000" cy="8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1F4E79"/>
                </a:solidFill>
                <a:latin typeface="Calibri"/>
                <a:cs typeface="Calibri"/>
              </a:rPr>
              <a:t>Agentic Data Science pipeline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8350000" y="3140000"/>
            <a:ext cx="32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7FD1F0"/>
                </a:solidFill>
                <a:latin typeface="Calibri"/>
                <a:cs typeface="Calibri"/>
              </a:rPr>
              <a:t>Measures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8350000" y="3490000"/>
            <a:ext cx="3200000" cy="19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Task completion rate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Manual intervention count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Execution time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Analytical / model performance</a:t>
            </a:r>
          </a:p>
          <a:p>
            <a:pPr marL="228600" indent="-228600" algn="l">
              <a:spcBef>
                <a:spcPts val="0"/>
              </a:spcBef>
              <a:spcAft>
                <a:spcPts val="900"/>
              </a:spcAft>
              <a:buClr>
                <a:srgbClr val="7FD1F0"/>
              </a:buClr>
              <a:buFont typeface="Arial"/>
              <a:buChar char="•"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Workflow failures and recovery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en-US" sz="3600" b="1" dirty="0">
                <a:solidFill>
                  <a:srgbClr val="1F4E79"/>
                </a:solidFill>
                <a:latin typeface="Calibri"/>
                <a:cs typeface="Calibri"/>
              </a:rPr>
              <a:t>Pipeline Structure</a:t>
            </a:r>
          </a:p>
        </p:txBody>
      </p:sp>
      <p:cxnSp>
        <p:nvCxnSpPr>
          <p:cNvPr id="5" name="Title rule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</p:cxnSp>
      <p:sp>
        <p:nvSpPr>
          <p:cNvPr id="4" name="Project tag"/>
          <p:cNvSpPr txBox="1"/>
          <p:nvPr/>
        </p:nvSpPr>
        <p:spPr>
          <a:xfrm>
            <a:off x="5593893" y="57036"/>
            <a:ext cx="6498107" cy="3800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  <a:latin typeface="Calibri"/>
                <a:cs typeface="Calibri"/>
              </a:rPr>
              <a:t>Agentic AI for Autonomous Data Analysis</a:t>
            </a:r>
          </a:p>
        </p:txBody>
      </p:sp>
      <p:sp>
        <p:nvSpPr>
          <p:cNvPr id="21" name="Dataset + Analysis Goal"/>
          <p:cNvSpPr/>
          <p:nvPr/>
        </p:nvSpPr>
        <p:spPr>
          <a:xfrm>
            <a:off x="450000" y="150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2F5F1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540000" y="1580000"/>
            <a:ext cx="300000" cy="300000"/>
          </a:xfrm>
          <a:prstGeom prst="ellipse">
            <a:avLst/>
          </a:prstGeom>
          <a:solidFill>
            <a:srgbClr val="17968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10000" y="184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Dataset + Analysis Goal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USER input</a:t>
            </a:r>
          </a:p>
        </p:txBody>
      </p:sp>
      <p:sp>
        <p:nvSpPr>
          <p:cNvPr id="24" name="Arrow"/>
          <p:cNvSpPr/>
          <p:nvPr/>
        </p:nvSpPr>
        <p:spPr>
          <a:xfrm>
            <a:off x="2430000" y="1960000"/>
            <a:ext cx="290000" cy="28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5" name="Profile Agent"/>
          <p:cNvSpPr/>
          <p:nvPr/>
        </p:nvSpPr>
        <p:spPr>
          <a:xfrm>
            <a:off x="2800000" y="150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6" name="Badge"/>
          <p:cNvSpPr/>
          <p:nvPr/>
        </p:nvSpPr>
        <p:spPr>
          <a:xfrm>
            <a:off x="2890000" y="1580000"/>
            <a:ext cx="300000" cy="3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2860000" y="184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Profile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profiles the dataset</a:t>
            </a:r>
          </a:p>
        </p:txBody>
      </p:sp>
      <p:sp>
        <p:nvSpPr>
          <p:cNvPr id="28" name="Arrow"/>
          <p:cNvSpPr/>
          <p:nvPr/>
        </p:nvSpPr>
        <p:spPr>
          <a:xfrm>
            <a:off x="4780000" y="1960000"/>
            <a:ext cx="290000" cy="28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29" name="Planner Agent"/>
          <p:cNvSpPr/>
          <p:nvPr/>
        </p:nvSpPr>
        <p:spPr>
          <a:xfrm>
            <a:off x="5150000" y="150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5240000" y="1580000"/>
            <a:ext cx="300000" cy="3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210000" y="184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Planner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plans the workflow</a:t>
            </a:r>
          </a:p>
        </p:txBody>
      </p:sp>
      <p:sp>
        <p:nvSpPr>
          <p:cNvPr id="32" name="Arrow"/>
          <p:cNvSpPr/>
          <p:nvPr/>
        </p:nvSpPr>
        <p:spPr>
          <a:xfrm>
            <a:off x="7130000" y="1960000"/>
            <a:ext cx="290000" cy="28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3" name="Preprocessing Agent"/>
          <p:cNvSpPr/>
          <p:nvPr/>
        </p:nvSpPr>
        <p:spPr>
          <a:xfrm>
            <a:off x="7500000" y="150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4" name="Badge"/>
          <p:cNvSpPr/>
          <p:nvPr/>
        </p:nvSpPr>
        <p:spPr>
          <a:xfrm>
            <a:off x="7590000" y="1580000"/>
            <a:ext cx="300000" cy="3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7560000" y="184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Preprocessing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autonomous preprocessing</a:t>
            </a:r>
          </a:p>
        </p:txBody>
      </p:sp>
      <p:sp>
        <p:nvSpPr>
          <p:cNvPr id="36" name="Arrow"/>
          <p:cNvSpPr/>
          <p:nvPr/>
        </p:nvSpPr>
        <p:spPr>
          <a:xfrm>
            <a:off x="9480000" y="1960000"/>
            <a:ext cx="290000" cy="280000"/>
          </a:xfrm>
          <a:prstGeom prst="righ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7" name="Validation Agent"/>
          <p:cNvSpPr/>
          <p:nvPr/>
        </p:nvSpPr>
        <p:spPr>
          <a:xfrm>
            <a:off x="9850000" y="150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38" name="Badge"/>
          <p:cNvSpPr/>
          <p:nvPr/>
        </p:nvSpPr>
        <p:spPr>
          <a:xfrm>
            <a:off x="9940000" y="1580000"/>
            <a:ext cx="300000" cy="3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9910000" y="184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Validation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validates preprocessing</a:t>
            </a:r>
          </a:p>
        </p:txBody>
      </p:sp>
      <p:sp>
        <p:nvSpPr>
          <p:cNvPr id="40" name="Arrow"/>
          <p:cNvSpPr/>
          <p:nvPr/>
        </p:nvSpPr>
        <p:spPr>
          <a:xfrm>
            <a:off x="10630000" y="2780000"/>
            <a:ext cx="340000" cy="460000"/>
          </a:xfrm>
          <a:prstGeom prst="down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1" name="Parallel branches"/>
          <p:cNvSpPr/>
          <p:nvPr/>
        </p:nvSpPr>
        <p:spPr>
          <a:xfrm>
            <a:off x="7500000" y="3320000"/>
            <a:ext cx="4250000" cy="2080000"/>
          </a:xfrm>
          <a:prstGeom prst="roundRect">
            <a:avLst>
              <a:gd name="adj" fmla="val 6000"/>
            </a:avLst>
          </a:prstGeom>
          <a:solidFill>
            <a:srgbClr val="EDEDFA"/>
          </a:solidFill>
          <a:ln w="12700">
            <a:solidFill>
              <a:srgbClr val="5B5FC7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2" name="Text"/>
          <p:cNvSpPr txBox="1"/>
          <p:nvPr/>
        </p:nvSpPr>
        <p:spPr>
          <a:xfrm>
            <a:off x="7650000" y="3370000"/>
            <a:ext cx="39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5B5FC7"/>
                </a:solidFill>
                <a:latin typeface="Calibri"/>
                <a:cs typeface="Calibri"/>
              </a:rPr>
              <a:t>PARALLEL BRANCHES</a:t>
            </a:r>
          </a:p>
        </p:txBody>
      </p:sp>
      <p:sp>
        <p:nvSpPr>
          <p:cNvPr id="43" name="EDA Agent"/>
          <p:cNvSpPr/>
          <p:nvPr/>
        </p:nvSpPr>
        <p:spPr>
          <a:xfrm>
            <a:off x="7650000" y="3720000"/>
            <a:ext cx="1900000" cy="153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4" name="Badge"/>
          <p:cNvSpPr/>
          <p:nvPr/>
        </p:nvSpPr>
        <p:spPr>
          <a:xfrm>
            <a:off x="7740000" y="3800000"/>
            <a:ext cx="300000" cy="30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7710000" y="4060000"/>
            <a:ext cx="178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EDA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exploratory analysis</a:t>
            </a:r>
          </a:p>
        </p:txBody>
      </p:sp>
      <p:sp>
        <p:nvSpPr>
          <p:cNvPr id="46" name="Model Agent"/>
          <p:cNvSpPr/>
          <p:nvPr/>
        </p:nvSpPr>
        <p:spPr>
          <a:xfrm>
            <a:off x="9700000" y="3720000"/>
            <a:ext cx="1900000" cy="153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47" name="Badge"/>
          <p:cNvSpPr/>
          <p:nvPr/>
        </p:nvSpPr>
        <p:spPr>
          <a:xfrm>
            <a:off x="9790000" y="3800000"/>
            <a:ext cx="300000" cy="300000"/>
          </a:xfrm>
          <a:prstGeom prst="ellipse">
            <a:avLst/>
          </a:prstGeom>
          <a:solidFill>
            <a:srgbClr val="5B5F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9760000" y="4060000"/>
            <a:ext cx="178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Model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selects and runs ML models</a:t>
            </a:r>
          </a:p>
        </p:txBody>
      </p:sp>
      <p:sp>
        <p:nvSpPr>
          <p:cNvPr id="49" name="Validation Agent"/>
          <p:cNvSpPr/>
          <p:nvPr/>
        </p:nvSpPr>
        <p:spPr>
          <a:xfrm>
            <a:off x="5150000" y="376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0" name="Badge"/>
          <p:cNvSpPr/>
          <p:nvPr/>
        </p:nvSpPr>
        <p:spPr>
          <a:xfrm>
            <a:off x="5240000" y="3840000"/>
            <a:ext cx="300000" cy="3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5210000" y="410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Validation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validates model results</a:t>
            </a:r>
          </a:p>
        </p:txBody>
      </p:sp>
      <p:sp>
        <p:nvSpPr>
          <p:cNvPr id="52" name="Arrow"/>
          <p:cNvSpPr/>
          <p:nvPr/>
        </p:nvSpPr>
        <p:spPr>
          <a:xfrm>
            <a:off x="7130000" y="4220000"/>
            <a:ext cx="290000" cy="28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3" name="Insight Agent"/>
          <p:cNvSpPr/>
          <p:nvPr/>
        </p:nvSpPr>
        <p:spPr>
          <a:xfrm>
            <a:off x="2800000" y="3760000"/>
            <a:ext cx="1900000" cy="1200000"/>
          </a:xfrm>
          <a:prstGeom prst="roundRect">
            <a:avLst>
              <a:gd name="adj" fmla="val 9000"/>
            </a:avLst>
          </a:prstGeom>
          <a:solidFill>
            <a:srgbClr val="EAF4FB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4" name="Badge"/>
          <p:cNvSpPr/>
          <p:nvPr/>
        </p:nvSpPr>
        <p:spPr>
          <a:xfrm>
            <a:off x="2890000" y="3840000"/>
            <a:ext cx="300000" cy="300000"/>
          </a:xfrm>
          <a:prstGeom prst="ellipse">
            <a:avLst/>
          </a:prstGeom>
          <a:solidFill>
            <a:srgbClr val="1E88C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2860000" y="4100000"/>
            <a:ext cx="1780000" cy="8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Insight Agent</a:t>
            </a:r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E82"/>
                </a:solidFill>
                <a:latin typeface="Calibri"/>
                <a:cs typeface="Calibri"/>
              </a:rPr>
              <a:t>interpretable insights</a:t>
            </a:r>
          </a:p>
        </p:txBody>
      </p:sp>
      <p:sp>
        <p:nvSpPr>
          <p:cNvPr id="56" name="Arrow"/>
          <p:cNvSpPr/>
          <p:nvPr/>
        </p:nvSpPr>
        <p:spPr>
          <a:xfrm>
            <a:off x="4780000" y="4220000"/>
            <a:ext cx="290000" cy="28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7" name="Analysis Report"/>
          <p:cNvSpPr/>
          <p:nvPr/>
        </p:nvSpPr>
        <p:spPr>
          <a:xfrm>
            <a:off x="450000" y="3320000"/>
            <a:ext cx="1900000" cy="940000"/>
          </a:xfrm>
          <a:prstGeom prst="roundRect">
            <a:avLst>
              <a:gd name="adj" fmla="val 9000"/>
            </a:avLst>
          </a:prstGeom>
          <a:solidFill>
            <a:srgbClr val="EBF5E1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58" name="Badge"/>
          <p:cNvSpPr/>
          <p:nvPr/>
        </p:nvSpPr>
        <p:spPr>
          <a:xfrm>
            <a:off x="540000" y="3400000"/>
            <a:ext cx="300000" cy="30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510000" y="3660000"/>
            <a:ext cx="178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Analysis Report</a:t>
            </a:r>
          </a:p>
        </p:txBody>
      </p:sp>
      <p:sp>
        <p:nvSpPr>
          <p:cNvPr id="60" name="Preprocessed CSV"/>
          <p:cNvSpPr/>
          <p:nvPr/>
        </p:nvSpPr>
        <p:spPr>
          <a:xfrm>
            <a:off x="450000" y="4460000"/>
            <a:ext cx="1900000" cy="940000"/>
          </a:xfrm>
          <a:prstGeom prst="roundRect">
            <a:avLst>
              <a:gd name="adj" fmla="val 9000"/>
            </a:avLst>
          </a:prstGeom>
          <a:solidFill>
            <a:srgbClr val="EBF5E1"/>
          </a:solidFill>
          <a:ln w="12700">
            <a:solidFill>
              <a:srgbClr val="CFE1E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1" name="Badge"/>
          <p:cNvSpPr/>
          <p:nvPr/>
        </p:nvSpPr>
        <p:spPr>
          <a:xfrm>
            <a:off x="540000" y="4540000"/>
            <a:ext cx="300000" cy="30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510000" y="4800000"/>
            <a:ext cx="178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F4E79"/>
                </a:solidFill>
                <a:latin typeface="Calibri"/>
                <a:cs typeface="Calibri"/>
              </a:rPr>
              <a:t>Preprocessed CSV</a:t>
            </a:r>
          </a:p>
        </p:txBody>
      </p:sp>
      <p:sp>
        <p:nvSpPr>
          <p:cNvPr id="63" name="Badge"/>
          <p:cNvSpPr/>
          <p:nvPr/>
        </p:nvSpPr>
        <p:spPr>
          <a:xfrm>
            <a:off x="2150000" y="5180000"/>
            <a:ext cx="380000" cy="380000"/>
          </a:xfrm>
          <a:prstGeom prst="ellipse">
            <a:avLst/>
          </a:prstGeom>
          <a:solidFill>
            <a:srgbClr val="5A9E2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pic>
        <p:nvPicPr>
          <p:cNvPr id="64" name="Icon FaDownloa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00" y="5271200"/>
            <a:ext cx="197600" cy="197600"/>
          </a:xfrm>
          <a:prstGeom prst="rect">
            <a:avLst/>
          </a:prstGeom>
        </p:spPr>
      </p:pic>
      <p:sp>
        <p:nvSpPr>
          <p:cNvPr id="65" name="Arrow"/>
          <p:cNvSpPr/>
          <p:nvPr/>
        </p:nvSpPr>
        <p:spPr>
          <a:xfrm>
            <a:off x="2430000" y="3670000"/>
            <a:ext cx="290000" cy="24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6" name="Arrow"/>
          <p:cNvSpPr/>
          <p:nvPr/>
        </p:nvSpPr>
        <p:spPr>
          <a:xfrm>
            <a:off x="2430000" y="4810000"/>
            <a:ext cx="290000" cy="240000"/>
          </a:xfrm>
          <a:prstGeom prst="leftArrow">
            <a:avLst>
              <a:gd name="adj1" fmla="val 46000"/>
              <a:gd name="adj2" fmla="val 56000"/>
            </a:avLst>
          </a:prstGeom>
          <a:solidFill>
            <a:srgbClr val="5B6E8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US"/>
          </a:p>
        </p:txBody>
      </p:sp>
      <p:sp>
        <p:nvSpPr>
          <p:cNvPr id="67" name="Text"/>
          <p:cNvSpPr txBox="1"/>
          <p:nvPr/>
        </p:nvSpPr>
        <p:spPr>
          <a:xfrm>
            <a:off x="1500000" y="5520000"/>
            <a:ext cx="102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1F4E79"/>
                </a:solidFill>
                <a:latin typeface="Calibri"/>
                <a:cs typeface="Calibri"/>
              </a:rPr>
              <a:t>The LLM plans, selects tools and explains; deterministic Python tools execute every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1418</Words>
  <Application>Microsoft Office PowerPoint</Application>
  <PresentationFormat>Widescreen</PresentationFormat>
  <Paragraphs>410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Sanjay Karthick S</cp:lastModifiedBy>
  <cp:revision>15</cp:revision>
  <dcterms:created xsi:type="dcterms:W3CDTF">2024-05-13T10:33:11Z</dcterms:created>
  <dcterms:modified xsi:type="dcterms:W3CDTF">2026-09-24T05:07:07Z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