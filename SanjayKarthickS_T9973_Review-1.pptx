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513" r:id="rId7"/>
    <p:sldId id="2147470496" r:id="rId8"/>
    <p:sldId id="2147470516" r:id="rId9"/>
    <p:sldId id="2147470497" r:id="rId10"/>
    <p:sldId id="2147470487" r:id="rId11"/>
    <p:sldId id="2147470491" r:id="rId12"/>
    <p:sldId id="2147470514" r:id="rId13"/>
    <p:sldId id="2147470499" r:id="rId14"/>
    <p:sldId id="2147470500" r:id="rId15"/>
    <p:sldId id="2147470501" r:id="rId16"/>
    <p:sldId id="2147470502" r:id="rId17"/>
    <p:sldId id="2147470515" r:id="rId18"/>
    <p:sldId id="2147470503" r:id="rId19"/>
    <p:sldId id="2147470517" r:id="rId20"/>
    <p:sldId id="2147470504" r:id="rId21"/>
    <p:sldId id="2147470505" r:id="rId22"/>
    <p:sldId id="21474705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ducationaldatamining.org/edm2023/proceedings/2023.EDM-long-papers.6/index.html?utm_source=chatgpt.com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ontiersin.org/journals/education/articles/10.3389/feduc.2024.1427502/full?utm_source=chatgpt.com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1274164" y="2224878"/>
            <a:ext cx="9968459" cy="20828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rPr sz="2400" dirty="0"/>
              <a:t>Semantic-Temporal Modeling of Examination Question Trends for Explainable Topic Forecasting</a:t>
            </a:r>
            <a:endParaRPr lang="en-IN" sz="2400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br>
              <a:rPr sz="2400" dirty="0"/>
            </a:br>
            <a:r>
              <a:rPr sz="2400" dirty="0"/>
              <a:t>Sanjay </a:t>
            </a:r>
            <a:r>
              <a:rPr sz="2400" dirty="0" err="1"/>
              <a:t>Karthick</a:t>
            </a:r>
            <a:r>
              <a:rPr sz="2400" dirty="0"/>
              <a:t> S</a:t>
            </a:r>
            <a:br>
              <a:rPr sz="2400" dirty="0"/>
            </a:br>
            <a:r>
              <a:rPr sz="2400" dirty="0"/>
              <a:t>Roll No. 251011013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9902" y="1132378"/>
            <a:ext cx="11932170" cy="5084233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Manual analysis of multi-year examination papers is time-consuming and often reduces topic importance to simple frequency counts.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Existing educational NLP work focuses largely on question generation, classification, assessment quality and content selection rather than forecasting the temporal evolution of exam topics.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This project investigates whether semantic representations and temporal patterns can jointly model how examination topics recur, emerge and decline over time.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Research focus: explainable Top-K topic forecasting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55996" y="102686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938073" y="57036"/>
            <a:ext cx="925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51125" cy="5084234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Build a structured corpus of historical examination questions with year, unit/topic, marks and question-type metadata.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Represent questions semantically using transformer-based embeddings and discover coherent topic clusters.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Model topic recurrence, recency, trend and semantic evolution across examination years.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Develop and compare forecasting models using semantic-temporal features.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Evaluate forecasts through historical back-testing and explain the factors contributing to each prediction.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968053" y="57036"/>
            <a:ext cx="922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271219"/>
            <a:ext cx="12192000" cy="5529731"/>
          </a:xfrm>
        </p:spPr>
        <p:txBody>
          <a:bodyPr wrap="square"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historical examination papers to identify recurring and evolving topics. </a:t>
            </a:r>
          </a:p>
          <a:p>
            <a:pPr lvl="0"/>
            <a:r>
              <a:rPr lang="en-IN" dirty="0"/>
              <a:t>Discover semantically related topics despite differences in question wording. </a:t>
            </a:r>
          </a:p>
          <a:p>
            <a:pPr lvl="0"/>
            <a:r>
              <a:rPr lang="en-IN" dirty="0"/>
              <a:t>Model topic trends using frequency, recurrence, recency, and temporal evolution. </a:t>
            </a:r>
          </a:p>
          <a:p>
            <a:pPr lvl="0"/>
            <a:r>
              <a:rPr lang="en-IN" dirty="0"/>
              <a:t>Forecast and rank likely future examination topics with interpretable reasons. </a:t>
            </a:r>
          </a:p>
          <a:p>
            <a:pPr lvl="0"/>
            <a:r>
              <a:rPr lang="en-IN" dirty="0"/>
              <a:t>Validate forecasts through chronological back-testing against baseline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953063" y="57036"/>
            <a:ext cx="923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2788171" y="57036"/>
            <a:ext cx="940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74EBDD-8366-E09C-C63A-83616E4E7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88869"/>
              </p:ext>
            </p:extLst>
          </p:nvPr>
        </p:nvGraphicFramePr>
        <p:xfrm>
          <a:off x="0" y="1192210"/>
          <a:ext cx="12192000" cy="5665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9430">
                  <a:extLst>
                    <a:ext uri="{9D8B030D-6E8A-4147-A177-3AD203B41FA5}">
                      <a16:colId xmlns:a16="http://schemas.microsoft.com/office/drawing/2014/main" val="112646767"/>
                    </a:ext>
                  </a:extLst>
                </a:gridCol>
                <a:gridCol w="1918740">
                  <a:extLst>
                    <a:ext uri="{9D8B030D-6E8A-4147-A177-3AD203B41FA5}">
                      <a16:colId xmlns:a16="http://schemas.microsoft.com/office/drawing/2014/main" val="3909349932"/>
                    </a:ext>
                  </a:extLst>
                </a:gridCol>
                <a:gridCol w="4227227">
                  <a:extLst>
                    <a:ext uri="{9D8B030D-6E8A-4147-A177-3AD203B41FA5}">
                      <a16:colId xmlns:a16="http://schemas.microsoft.com/office/drawing/2014/main" val="3909302139"/>
                    </a:ext>
                  </a:extLst>
                </a:gridCol>
                <a:gridCol w="1753849">
                  <a:extLst>
                    <a:ext uri="{9D8B030D-6E8A-4147-A177-3AD203B41FA5}">
                      <a16:colId xmlns:a16="http://schemas.microsoft.com/office/drawing/2014/main" val="2341859062"/>
                    </a:ext>
                  </a:extLst>
                </a:gridCol>
                <a:gridCol w="1663908">
                  <a:extLst>
                    <a:ext uri="{9D8B030D-6E8A-4147-A177-3AD203B41FA5}">
                      <a16:colId xmlns:a16="http://schemas.microsoft.com/office/drawing/2014/main" val="3968593297"/>
                    </a:ext>
                  </a:extLst>
                </a:gridCol>
                <a:gridCol w="1758846">
                  <a:extLst>
                    <a:ext uri="{9D8B030D-6E8A-4147-A177-3AD203B41FA5}">
                      <a16:colId xmlns:a16="http://schemas.microsoft.com/office/drawing/2014/main" val="1604560284"/>
                    </a:ext>
                  </a:extLst>
                </a:gridCol>
              </a:tblGrid>
              <a:tr h="494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S.No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Author &amp; Year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Research Focus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Method / Technique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Key Finding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Gap / Relevance to Proposed Work</a:t>
                      </a:r>
                    </a:p>
                  </a:txBody>
                  <a:tcPr marL="31335" marR="31335" marT="15667" marB="15667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137693"/>
                  </a:ext>
                </a:extLst>
              </a:tr>
              <a:tr h="16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Mulla &amp; Gharpure (2023)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Automatic Question Generation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 of QG methodologies, datasets and evaluation metrics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Provides a broad overview of NLP-based question generation approaches and evaluation practices.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Focuses mainly on generating questions, not forecasting future examination topics.</a:t>
                      </a:r>
                    </a:p>
                  </a:txBody>
                  <a:tcPr marL="31335" marR="31335" marT="15667" marB="15667" anchor="ctr"/>
                </a:tc>
                <a:extLst>
                  <a:ext uri="{0D108BD9-81ED-4DB2-BD59-A6C34878D82A}">
                    <a16:rowId xmlns:a16="http://schemas.microsoft.com/office/drawing/2014/main" val="2590305820"/>
                  </a:ext>
                </a:extLst>
              </a:tr>
              <a:tr h="1646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Hadifar et al. (2023)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Educational content selection for Question Generation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Relevance and topic-diversity based content selection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Selecting relevant and diverse educational content improves document-level question generation. 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Addresses content selection, but not temporal recurrence or future exam-topic prediction.</a:t>
                      </a:r>
                    </a:p>
                  </a:txBody>
                  <a:tcPr marL="31335" marR="31335" marT="15667" marB="15667" anchor="ctr"/>
                </a:tc>
                <a:extLst>
                  <a:ext uri="{0D108BD9-81ED-4DB2-BD59-A6C34878D82A}">
                    <a16:rowId xmlns:a16="http://schemas.microsoft.com/office/drawing/2014/main" val="235169649"/>
                  </a:ext>
                </a:extLst>
              </a:tr>
              <a:tr h="1877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Chopra et al. (2023)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Temporal evolution of educational topics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Contextualized Topic Modeling + temporal topic analysis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Demonstrates that semantic topics can be </a:t>
                      </a:r>
                      <a:r>
                        <a:rPr lang="en-IN" sz="1400" dirty="0" err="1"/>
                        <a:t>modeled</a:t>
                      </a:r>
                      <a:r>
                        <a:rPr lang="en-IN" sz="1400" dirty="0"/>
                        <a:t> to capture how educational themes evolve over time. (</a:t>
                      </a:r>
                      <a:r>
                        <a:rPr lang="en-IN" sz="1400" dirty="0">
                          <a:hlinkClick r:id="rId2" tooltip="Semantic Topic Chains for Modeling Temporality of Themes in Online Student Discussion Forums"/>
                        </a:rPr>
                        <a:t>Educational Data Mining</a:t>
                      </a:r>
                      <a:r>
                        <a:rPr lang="en-IN" sz="1400" dirty="0"/>
                        <a:t>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Temporal </a:t>
                      </a:r>
                      <a:r>
                        <a:rPr lang="en-IN" sz="1400" dirty="0" err="1"/>
                        <a:t>modeling</a:t>
                      </a:r>
                      <a:r>
                        <a:rPr lang="en-IN" sz="1400" dirty="0"/>
                        <a:t> is applied to student discussion forums, rather than examination-question trends.</a:t>
                      </a:r>
                    </a:p>
                  </a:txBody>
                  <a:tcPr marL="31335" marR="31335" marT="15667" marB="15667" anchor="ctr"/>
                </a:tc>
                <a:extLst>
                  <a:ext uri="{0D108BD9-81ED-4DB2-BD59-A6C34878D82A}">
                    <a16:rowId xmlns:a16="http://schemas.microsoft.com/office/drawing/2014/main" val="3783200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31E7-5C34-3DCE-EA75-08B67D23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CEFB2C-7883-901B-7715-7AA1065F25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DB462-AB0A-DF74-1ABE-4E3B4DACE3F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D9140C-598E-A6AF-C20D-A3E8F8F3FDC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9A0D07-8DAE-E801-5186-BF39900F68A0}"/>
              </a:ext>
            </a:extLst>
          </p:cNvPr>
          <p:cNvSpPr txBox="1"/>
          <p:nvPr/>
        </p:nvSpPr>
        <p:spPr>
          <a:xfrm>
            <a:off x="2788171" y="57036"/>
            <a:ext cx="940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D6420E-D295-AAC6-70FE-7DAF38C2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81608"/>
              </p:ext>
            </p:extLst>
          </p:nvPr>
        </p:nvGraphicFramePr>
        <p:xfrm>
          <a:off x="0" y="1192210"/>
          <a:ext cx="12192000" cy="59730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0409">
                  <a:extLst>
                    <a:ext uri="{9D8B030D-6E8A-4147-A177-3AD203B41FA5}">
                      <a16:colId xmlns:a16="http://schemas.microsoft.com/office/drawing/2014/main" val="112646767"/>
                    </a:ext>
                  </a:extLst>
                </a:gridCol>
                <a:gridCol w="1530409">
                  <a:extLst>
                    <a:ext uri="{9D8B030D-6E8A-4147-A177-3AD203B41FA5}">
                      <a16:colId xmlns:a16="http://schemas.microsoft.com/office/drawing/2014/main" val="3909349932"/>
                    </a:ext>
                  </a:extLst>
                </a:gridCol>
                <a:gridCol w="3459903">
                  <a:extLst>
                    <a:ext uri="{9D8B030D-6E8A-4147-A177-3AD203B41FA5}">
                      <a16:colId xmlns:a16="http://schemas.microsoft.com/office/drawing/2014/main" val="3909302139"/>
                    </a:ext>
                  </a:extLst>
                </a:gridCol>
                <a:gridCol w="2038663">
                  <a:extLst>
                    <a:ext uri="{9D8B030D-6E8A-4147-A177-3AD203B41FA5}">
                      <a16:colId xmlns:a16="http://schemas.microsoft.com/office/drawing/2014/main" val="2341859062"/>
                    </a:ext>
                  </a:extLst>
                </a:gridCol>
                <a:gridCol w="1858780">
                  <a:extLst>
                    <a:ext uri="{9D8B030D-6E8A-4147-A177-3AD203B41FA5}">
                      <a16:colId xmlns:a16="http://schemas.microsoft.com/office/drawing/2014/main" val="3968593297"/>
                    </a:ext>
                  </a:extLst>
                </a:gridCol>
                <a:gridCol w="1773836">
                  <a:extLst>
                    <a:ext uri="{9D8B030D-6E8A-4147-A177-3AD203B41FA5}">
                      <a16:colId xmlns:a16="http://schemas.microsoft.com/office/drawing/2014/main" val="1604560284"/>
                    </a:ext>
                  </a:extLst>
                </a:gridCol>
              </a:tblGrid>
              <a:tr h="281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Scaria et al. (2024)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LLM-based educational question classification/generation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Large Language Models for educational questions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Shows the potential of LLMs for educational question-related tasks while highlighting quality/robustness concerns.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Does not address longitudinal examination-topic forecasting.</a:t>
                      </a:r>
                    </a:p>
                  </a:txBody>
                  <a:tcPr marL="31335" marR="31335" marT="15667" marB="15667" anchor="ctr"/>
                </a:tc>
                <a:extLst>
                  <a:ext uri="{0D108BD9-81ED-4DB2-BD59-A6C34878D82A}">
                    <a16:rowId xmlns:a16="http://schemas.microsoft.com/office/drawing/2014/main" val="1918137693"/>
                  </a:ext>
                </a:extLst>
              </a:tr>
              <a:tr h="3159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Meissner et al. (2024)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LLM-generated assessment items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LLM-based competence-oriented assessment generation and evaluation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Evaluates generated assessment items for correctness, completeness and alignment with specified cognitive/knowledge dimensions. (</a:t>
                      </a:r>
                      <a:r>
                        <a:rPr lang="en-IN" sz="1400" dirty="0">
                          <a:hlinkClick r:id="rId2" tooltip="Frontiers | LLM-generated competence-based e-assessment items for higher education mathematics: methodology and evaluation"/>
                        </a:rPr>
                        <a:t>Frontiers</a:t>
                      </a:r>
                      <a:r>
                        <a:rPr lang="en-IN" sz="1400" dirty="0"/>
                        <a:t>)</a:t>
                      </a:r>
                    </a:p>
                  </a:txBody>
                  <a:tcPr marL="31335" marR="31335" marT="15667" marB="1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Focuses on assessment generation, rather than predicting which topics may appear in future examinations.</a:t>
                      </a:r>
                    </a:p>
                  </a:txBody>
                  <a:tcPr marL="31335" marR="31335" marT="15667" marB="15667" anchor="ctr"/>
                </a:tc>
                <a:extLst>
                  <a:ext uri="{0D108BD9-81ED-4DB2-BD59-A6C34878D82A}">
                    <a16:rowId xmlns:a16="http://schemas.microsoft.com/office/drawing/2014/main" val="259030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54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1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Literature shows strong progress in educational NLP, question generation and LLM-assisted assessment.</a:t>
            </a:r>
            <a:endParaRPr lang="en-US" sz="2500" b="0" dirty="0">
              <a:solidFill>
                <a:srgbClr val="5583D1"/>
              </a:solidFill>
            </a:endParaRPr>
          </a:p>
          <a:p>
            <a:pPr marL="0" indent="0" fontAlgn="ctr">
              <a:buNone/>
            </a:pPr>
            <a:r>
              <a:rPr sz="2500" dirty="0"/>
              <a:t>• Temporal topic modeling has demonstrated value for understanding how educational themes evolve over time.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Existing approaches generally emphasize generation/classification or static topic analysis; examination-oriented forecasting with joint semantic-temporal modeling is less explored.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Proposed gap: combine semantic embeddings, topic evolution, recurrence/recency features and explainable forecasting, validated through historical back-testing.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Evaluation will compare the proposed model against frequency-only and conventional ML baselines.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2953062" y="57036"/>
            <a:ext cx="923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8840-FD48-0EEC-4E01-080ACDD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A4951D-0D94-166C-0B40-E9663DD1D2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1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F8C90-E68B-D9BB-3895-EB4E23A5E98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rPr lang="en-IN" dirty="0"/>
              <a:t>Tech Stack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96CC97-4BFC-F509-EBE0-5E28923A9C8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6BD3CD-3E2F-626A-679F-0247F699964E}"/>
              </a:ext>
            </a:extLst>
          </p:cNvPr>
          <p:cNvSpPr txBox="1"/>
          <p:nvPr/>
        </p:nvSpPr>
        <p:spPr>
          <a:xfrm>
            <a:off x="2983043" y="57036"/>
            <a:ext cx="920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449196-156E-6D2D-AB5F-C8BC6BAF6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1640"/>
              </p:ext>
            </p:extLst>
          </p:nvPr>
        </p:nvGraphicFramePr>
        <p:xfrm>
          <a:off x="0" y="1139718"/>
          <a:ext cx="12192000" cy="57918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30098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491086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30034818"/>
                    </a:ext>
                  </a:extLst>
                </a:gridCol>
              </a:tblGrid>
              <a:tr h="3083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 dirty="0"/>
                    </a:p>
                  </a:txBody>
                  <a:tcPr marL="54480" marR="54480" marT="27240" marB="2724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Technology</a:t>
                      </a:r>
                    </a:p>
                  </a:txBody>
                  <a:tcPr marL="54480" marR="54480" marT="27240" marB="2724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marL="54480" marR="54480" marT="27240" marB="2724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36745"/>
                  </a:ext>
                </a:extLst>
              </a:tr>
              <a:tr h="308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Programming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Python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Core implementation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3466537309"/>
                  </a:ext>
                </a:extLst>
              </a:tr>
              <a:tr h="77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Data Processing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Pandas, NumPy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Question data cleaning, transformation and feature processing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2777789335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OCR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OCR tool/library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Extract text from scanned question papers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179687639"/>
                  </a:ext>
                </a:extLst>
              </a:tr>
              <a:tr h="556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NLP / Embeddings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Sentence-BERT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Convert questions into semantic vector representations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4020313912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Topic Modeling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BERTopic</a:t>
                      </a:r>
                      <a:endParaRPr lang="en-IN" sz="1600" dirty="0"/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Discover semantically coherent examination topics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1787048498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Clustering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K-Means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Alternative/baseline approach for grouping question embeddings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1710115986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Machine Learning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Random Forest / </a:t>
                      </a:r>
                      <a:r>
                        <a:rPr lang="en-IN" sz="1600" dirty="0" err="1"/>
                        <a:t>XGBoost</a:t>
                      </a:r>
                      <a:endParaRPr lang="en-IN" sz="1600" dirty="0"/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Forecasting using engineered semantic-temporal features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1813860646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Temporal Analysis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Python + feature engineering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Recency, recurrence, frequency and trend features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242866413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Evaluation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Scikit-learn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Precision@K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Recall@K</a:t>
                      </a:r>
                      <a:r>
                        <a:rPr lang="en-IN" sz="1600" dirty="0"/>
                        <a:t>, F1@K, MAP@K, NDCG@K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3167752201"/>
                  </a:ext>
                </a:extLst>
              </a:tr>
              <a:tr h="540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Visualization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Matplotlib</a:t>
                      </a:r>
                    </a:p>
                  </a:txBody>
                  <a:tcPr marL="54480" marR="54480" marT="27240" marB="27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Topic trends, distributions and forecasting results</a:t>
                      </a:r>
                    </a:p>
                  </a:txBody>
                  <a:tcPr marL="54480" marR="54480" marT="27240" marB="27240" anchor="ctr"/>
                </a:tc>
                <a:extLst>
                  <a:ext uri="{0D108BD9-81ED-4DB2-BD59-A6C34878D82A}">
                    <a16:rowId xmlns:a16="http://schemas.microsoft.com/office/drawing/2014/main" val="4263431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76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1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Dataset: historical university/college examination papers collected from publicly available academic sources and institutional repositories.</a:t>
            </a:r>
            <a:endParaRPr lang="en-US" sz="25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Preprocessing: OCR where required → question segmentation → normalization → metadata extraction → semantic embedding.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Candidate methods: TF-IDF baseline, Sentence-BERT embeddings, </a:t>
            </a:r>
            <a:r>
              <a:rPr sz="2500" dirty="0" err="1"/>
              <a:t>BERTopic</a:t>
            </a:r>
            <a:r>
              <a:rPr sz="2500" dirty="0"/>
              <a:t>/K-Means, Random Forest/</a:t>
            </a:r>
            <a:r>
              <a:rPr sz="2500" dirty="0" err="1"/>
              <a:t>XGBoost</a:t>
            </a:r>
            <a:r>
              <a:rPr sz="2500" dirty="0"/>
              <a:t> and temporal feature engineering.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Evaluation: </a:t>
            </a:r>
            <a:r>
              <a:rPr sz="2500" dirty="0" err="1"/>
              <a:t>Precision@K</a:t>
            </a:r>
            <a:r>
              <a:rPr sz="2500" dirty="0"/>
              <a:t>, </a:t>
            </a:r>
            <a:r>
              <a:rPr sz="2500" dirty="0" err="1"/>
              <a:t>Recall@K</a:t>
            </a:r>
            <a:r>
              <a:rPr sz="2500" dirty="0"/>
              <a:t>, F1@K, MAP@K/NDCG@K and calibration of predicted probabilities.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Research contribution: a reproducible semantic-temporal forecasting framework with interpretable prediction factors.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rPr dirty="0"/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983043" y="57036"/>
            <a:ext cx="920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29741"/>
          </a:xfrm>
        </p:spPr>
        <p:txBody>
          <a:bodyPr wrap="square"/>
          <a:lstStyle/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 Module 1: Question-paper corpus construction and OCR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Module 2: Question segmentation, normalization and metadata extraction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Module 3: Semantic representation and topic discovery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Module 4: Temporal topic evolution and feature engineering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Module 5: Explainable Top-K topic forecasting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lang="en-IN" sz="2600" dirty="0"/>
              <a:t>Module 6: Historical back-testing, baseline comparison and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latin typeface="Calibri"/>
              </a:defRPr>
            </a:pPr>
            <a:r>
              <a:rPr dirty="0"/>
              <a:t>Modul</a:t>
            </a:r>
            <a:r>
              <a:rPr lang="en-IN" dirty="0"/>
              <a:t>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15771" y="57036"/>
            <a:ext cx="937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rPr dirty="0"/>
              <a:t>Modules </a:t>
            </a:r>
            <a:r>
              <a:rPr lang="en-IN" dirty="0"/>
              <a:t>Explanation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2923083" y="72026"/>
            <a:ext cx="92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Semantic-Temporal Modeling of Examination Question Trends for Explainable Topic Forecasting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A354E7-89C4-9796-6BB7-2D3CEAD78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73555"/>
              </p:ext>
            </p:extLst>
          </p:nvPr>
        </p:nvGraphicFramePr>
        <p:xfrm>
          <a:off x="255996" y="1211898"/>
          <a:ext cx="11426418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3209">
                  <a:extLst>
                    <a:ext uri="{9D8B030D-6E8A-4147-A177-3AD203B41FA5}">
                      <a16:colId xmlns:a16="http://schemas.microsoft.com/office/drawing/2014/main" val="2684445284"/>
                    </a:ext>
                  </a:extLst>
                </a:gridCol>
                <a:gridCol w="5713209">
                  <a:extLst>
                    <a:ext uri="{9D8B030D-6E8A-4147-A177-3AD203B41FA5}">
                      <a16:colId xmlns:a16="http://schemas.microsoft.com/office/drawing/2014/main" val="3974374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691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 1: Question-Paper Corpus Construction &amp; 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Collect historical question papers, apply OCR where required, and build a structured examination-question corpus.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22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2: Question Segmentation &amp; Metadata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individual questions and organize them using subject, year, unit, marks, and question-type metadata.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63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3: Semantic Representation &amp; Topic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Convert questions into semantic embeddings and identify meaningful topic and concept clusters.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937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4: Temporal Topic Evolution &amp; 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topic recurrence, recency, trends, and semantic changes across examination years.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69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5: Explainable Top-K Topic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 the most probable future examination topics using semantic-temporal features and explain the prediction factors.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1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 6: Historical Back-Testing &amp;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forecasting performance on past examination years using ranking metrics and baseline comparisons.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335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BD44-7203-0159-64B7-1884EBB5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1F0D74-BA55-C574-AF5E-69EFE0B22914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100FAA6-4D59-634C-04E2-61FCFE651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FE73EC-2C7F-D105-7A6F-644B50DBF9F8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0B4521-8AAF-D8D1-E552-B8456E2CE76A}"/>
              </a:ext>
            </a:extLst>
          </p:cNvPr>
          <p:cNvSpPr/>
          <p:nvPr/>
        </p:nvSpPr>
        <p:spPr>
          <a:xfrm>
            <a:off x="1274164" y="2224878"/>
            <a:ext cx="9968459" cy="20828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 sz="3600" b="1">
                <a:latin typeface="Calibri"/>
              </a:defRPr>
            </a:pPr>
            <a:r>
              <a:rPr lang="en-GB" sz="2400" dirty="0"/>
              <a:t>Agentic AI Framework for Autonomous Data Analysis and Insight Generation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 sz="3600" b="1">
                <a:latin typeface="Calibri"/>
              </a:defRPr>
            </a:pPr>
            <a:br>
              <a:rPr sz="2400" dirty="0"/>
            </a:br>
            <a:r>
              <a:rPr sz="2400" dirty="0"/>
              <a:t>Sanjay </a:t>
            </a:r>
            <a:r>
              <a:rPr sz="2400" dirty="0" err="1"/>
              <a:t>Karthick</a:t>
            </a:r>
            <a:r>
              <a:rPr sz="2400" dirty="0"/>
              <a:t> S</a:t>
            </a:r>
            <a:br>
              <a:rPr sz="2400" dirty="0"/>
            </a:br>
            <a:r>
              <a:rPr sz="2400" dirty="0"/>
              <a:t>Roll No. 251011013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3125FE-C361-AF00-80FD-6D4844A8A814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8CA870C-5324-05EC-756B-98934359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19A5A9EB-84E5-7F21-C3A8-F0371F035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23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245685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Conventional data-analysis workflows require users to manually choose preprocessing, EDA, statistical tests, visualizations and ML models.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Automated analytics tools often follow fixed pipelines and may not adapt their workflow to the characteristics of an unseen dataset.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This project develops an application-oriented Agentic AI framework in which an LLM-based planner coordinates specialized analysis agents and tools.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dirty="0"/>
              <a:t>• The system is designed for structured/tabular datasets and produces an interpretable analytical report with execution traces.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586515" y="57036"/>
            <a:ext cx="760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0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Automatically profile datasets and identify data types, missing values, duplicates, outliers and quality issues.</a:t>
            </a:r>
            <a:endParaRPr lang="en-US" sz="25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Dynamically plan an analysis workflow from the dataset profile and the user's analytical objective.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Execute EDA, statistical analysis, visualization and baseline ML through specialized agents and tools.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Validate results and support iterative refinement or retry when an analysis step fails or produces weak results.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Generate a structured report containing findings, model results, visualizations and limitations.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615543" y="57036"/>
            <a:ext cx="757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300246"/>
            <a:ext cx="12192000" cy="5557753"/>
          </a:xfrm>
        </p:spPr>
        <p:txBody>
          <a:bodyPr wrap="square"/>
          <a:lstStyle/>
          <a:p>
            <a:pPr lvl="0"/>
            <a:r>
              <a:rPr lang="en-IN" dirty="0"/>
              <a:t>Automatically profile and assess the quality of uploaded tabular datasets. </a:t>
            </a:r>
          </a:p>
          <a:p>
            <a:pPr lvl="0"/>
            <a:r>
              <a:rPr lang="en-IN" dirty="0"/>
              <a:t>Identify the appropriate analytical task from dataset characteristics and user intent. </a:t>
            </a:r>
          </a:p>
          <a:p>
            <a:pPr lvl="0"/>
            <a:r>
              <a:rPr lang="en-IN" dirty="0"/>
              <a:t>Dynamically plan and execute EDA, statistical analysis, and machine-learning workflows. </a:t>
            </a:r>
          </a:p>
          <a:p>
            <a:pPr lvl="0"/>
            <a:r>
              <a:rPr lang="en-IN" dirty="0"/>
              <a:t>Use specialized agents for analysis, model selection, validation, and refinement. </a:t>
            </a:r>
          </a:p>
          <a:p>
            <a:pPr lvl="0"/>
            <a:r>
              <a:rPr lang="en-IN" dirty="0"/>
              <a:t>Generate interpretable visualizations, insights, and structured analytical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676931" y="72026"/>
            <a:ext cx="751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746171" y="57036"/>
            <a:ext cx="744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1FBA0C-2800-E469-30CB-B4B5680FF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89149"/>
              </p:ext>
            </p:extLst>
          </p:nvPr>
        </p:nvGraphicFramePr>
        <p:xfrm>
          <a:off x="0" y="1248042"/>
          <a:ext cx="12192000" cy="42456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898599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09146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927964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05598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010460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5504409"/>
                    </a:ext>
                  </a:extLst>
                </a:gridCol>
              </a:tblGrid>
              <a:tr h="499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Author &amp; Year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Focus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Technique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Key Finding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Gap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Relevance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1392657224"/>
                  </a:ext>
                </a:extLst>
              </a:tr>
              <a:tr h="1248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Wang et al., 2024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LLM Agents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Agent architecture survey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Defines agent components &amp; applications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General-purpose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Foundation for agent architecture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4009159428"/>
                  </a:ext>
                </a:extLst>
              </a:tr>
              <a:tr h="1248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 et al., 2024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Interactive Data Analysis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Benchmark + reflection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Evaluates data-analysis agents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Benchmark-oriented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Supports evaluation strategy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4054000198"/>
                  </a:ext>
                </a:extLst>
              </a:tr>
              <a:tr h="1248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Xiao et al., 2024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Automated Analysis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Multi-agent system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Planner + executor + evaluator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Domain-specific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Supports specialized-agent design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26153871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284A-6B9A-E959-306B-F79C25B7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9F452D-AB3A-7E13-78DC-016857C05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A5C9F-E21C-AE78-EE78-D2A8B19460B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730E23-0015-9A7A-1FC1-BA40066E779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9B3E75-EF7A-F536-EFD4-5578B25DFF99}"/>
              </a:ext>
            </a:extLst>
          </p:cNvPr>
          <p:cNvSpPr txBox="1"/>
          <p:nvPr/>
        </p:nvSpPr>
        <p:spPr>
          <a:xfrm>
            <a:off x="4746171" y="57036"/>
            <a:ext cx="744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708B04-C8FE-04D3-8FA4-9B5D3581A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4940"/>
              </p:ext>
            </p:extLst>
          </p:nvPr>
        </p:nvGraphicFramePr>
        <p:xfrm>
          <a:off x="0" y="1248041"/>
          <a:ext cx="12192000" cy="42456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898599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09146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927964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05598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010460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5504409"/>
                    </a:ext>
                  </a:extLst>
                </a:gridCol>
              </a:tblGrid>
              <a:tr h="1891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Xie et al., 2024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LLM Data Analysis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Visual code monitoring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Improves verification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Human-in-loop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Supports validation/explainability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1392657224"/>
                  </a:ext>
                </a:extLst>
              </a:tr>
              <a:tr h="2354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Rasheed et al., 2024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Multi-agent Analysis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LLM agents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Demonstrates agent collaboration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Qualitative focus</a:t>
                      </a:r>
                    </a:p>
                  </a:txBody>
                  <a:tcPr marL="88782" marR="88782" marT="44391" marB="443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Supports multi-agent workflow</a:t>
                      </a:r>
                    </a:p>
                  </a:txBody>
                  <a:tcPr marL="88782" marR="88782" marT="44391" marB="44391" anchor="ctr"/>
                </a:tc>
                <a:extLst>
                  <a:ext uri="{0D108BD9-81ED-4DB2-BD59-A6C34878D82A}">
                    <a16:rowId xmlns:a16="http://schemas.microsoft.com/office/drawing/2014/main" val="400915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010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1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Recent work demonstrates that LLM agents can coordinate tools and specialized roles for complex analysis tasks.</a:t>
            </a:r>
            <a:endParaRPr lang="en-US" sz="25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Benchmarks such as </a:t>
            </a:r>
            <a:r>
              <a:rPr sz="2500" dirty="0" err="1"/>
              <a:t>Tapilot</a:t>
            </a:r>
            <a:r>
              <a:rPr sz="2500" dirty="0"/>
              <a:t>-Crossing and </a:t>
            </a:r>
            <a:r>
              <a:rPr sz="2500" dirty="0" err="1"/>
              <a:t>DABstep</a:t>
            </a:r>
            <a:r>
              <a:rPr sz="2500" dirty="0"/>
              <a:t> show that multi-step data analysis remains difficult for current agents.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Domain-specific systems such as </a:t>
            </a:r>
            <a:r>
              <a:rPr sz="2500" dirty="0" err="1"/>
              <a:t>CellAgent</a:t>
            </a:r>
            <a:r>
              <a:rPr sz="2500" dirty="0"/>
              <a:t> demonstrate the value of tool selection and multi-agent orchestration.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Application gap: a lightweight, reproducible, general-purpose tabular-data analyst for college-scale deployment with explicit validation and execution logging.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Proposed system focuses on usability and transparent workflow execution rather than claiming fully autonomous general intelligence.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688115" y="57036"/>
            <a:ext cx="750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761E-D0F8-A539-2802-0DF87085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315F6-C57C-352F-E8D8-F14E945A49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78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endParaRPr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EDB32-8E88-71B8-4BEA-D0B2F1CAD49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rPr lang="en-IN" dirty="0"/>
              <a:t>Tech Stack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BC994B-E816-7F3B-0F9C-C6856B3B284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D5319F7-81B1-1C13-4DCA-DA8E13EC8C5C}"/>
              </a:ext>
            </a:extLst>
          </p:cNvPr>
          <p:cNvSpPr txBox="1"/>
          <p:nvPr/>
        </p:nvSpPr>
        <p:spPr>
          <a:xfrm>
            <a:off x="4296229" y="57036"/>
            <a:ext cx="789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D598D5-6990-A4BA-0725-A2FFB0FA0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45590"/>
              </p:ext>
            </p:extLst>
          </p:nvPr>
        </p:nvGraphicFramePr>
        <p:xfrm>
          <a:off x="1" y="1164363"/>
          <a:ext cx="12192000" cy="6073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674352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21681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45564483"/>
                    </a:ext>
                  </a:extLst>
                </a:gridCol>
              </a:tblGrid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1" dirty="0"/>
                    </a:p>
                  </a:txBody>
                  <a:tcPr marL="55106" marR="55106" marT="27553" marB="27553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Technology</a:t>
                      </a:r>
                    </a:p>
                  </a:txBody>
                  <a:tcPr marL="55106" marR="55106" marT="27553" marB="27553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marL="55106" marR="55106" marT="27553" marB="27553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869880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Programming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Python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Core application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3587937076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Processing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Pandas / NumPy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Dataset loading, preprocessing and analysis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2800624961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Machine Learning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Scikit-learn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Classification, regression, clustering and evaluation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2914552764"/>
                  </a:ext>
                </a:extLst>
              </a:tr>
              <a:tr h="46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LLM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LLM API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Natural-language understanding, planning and interpretation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330376710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Agent Orchestration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LangGraph / LangChain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Coordinate agents and workflow states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3754231429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Profiling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Custom Profile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Understand dataset structure and quality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466817306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Planning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Planner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Determine task and analysis workflow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712953638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EDA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EDA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Automated exploratory analysis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2810803849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Modeling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Model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Select/train/evaluate appropriate models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211748997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Validation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Validation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Check results and trigger refinement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681122767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Insights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Insight Agent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Generate explanations and final report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4092313160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Visualization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Matplotlib / Plotly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Charts and analytical visualizations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2601431444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Interface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Streamlit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User-facing web application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1922361755"/>
                  </a:ext>
                </a:extLst>
              </a:tr>
              <a:tr h="4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Metadata / Logging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SQLite / PostgreSQL</a:t>
                      </a:r>
                    </a:p>
                  </a:txBody>
                  <a:tcPr marL="55106" marR="55106" marT="27553" marB="275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Store analysis metadata/execution information</a:t>
                      </a:r>
                    </a:p>
                  </a:txBody>
                  <a:tcPr marL="55106" marR="55106" marT="27553" marB="27553" anchor="ctr"/>
                </a:tc>
                <a:extLst>
                  <a:ext uri="{0D108BD9-81ED-4DB2-BD59-A6C34878D82A}">
                    <a16:rowId xmlns:a16="http://schemas.microsoft.com/office/drawing/2014/main" val="3638327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32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78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Dataset: multiple public tabular datasets from UCI, Kaggle and open-data portals, selected to cover classification, regression and exploratory-analysis scenarios.</a:t>
            </a:r>
            <a:endParaRPr lang="en-US" sz="2500" b="0" dirty="0">
              <a:solidFill>
                <a:srgbClr val="5583D1"/>
              </a:solidFill>
            </a:endParaRP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Architecture: Profile Agent → Planner Agent → EDA Agent → Model Agent → Validation Agent → Insight Agent.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Frameworks: Python, Pandas/NumPy, Scikit-learn, </a:t>
            </a:r>
            <a:r>
              <a:rPr sz="2500" dirty="0" err="1"/>
              <a:t>LangGraph</a:t>
            </a:r>
            <a:r>
              <a:rPr sz="2500" dirty="0"/>
              <a:t>/</a:t>
            </a:r>
            <a:r>
              <a:rPr sz="2500" dirty="0" err="1"/>
              <a:t>LangChain</a:t>
            </a:r>
            <a:r>
              <a:rPr sz="2500" dirty="0"/>
              <a:t>, LLM API, Matplotlib/</a:t>
            </a:r>
            <a:r>
              <a:rPr sz="2500" dirty="0" err="1"/>
              <a:t>Plotly</a:t>
            </a:r>
            <a:r>
              <a:rPr sz="2500" dirty="0"/>
              <a:t> and </a:t>
            </a:r>
            <a:r>
              <a:rPr sz="2500" dirty="0" err="1"/>
              <a:t>Streamlit</a:t>
            </a:r>
            <a:r>
              <a:rPr sz="2500" dirty="0"/>
              <a:t>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Evaluation: task completion rate, analytical correctness, model metric quality, execution time, manual intervention count and report usefulness.</a:t>
            </a:r>
          </a:p>
          <a:p>
            <a:pPr marL="0" indent="0">
              <a:spcAft>
                <a:spcPts val="1000"/>
              </a:spcAft>
              <a:buNone/>
              <a:defRPr sz="2800">
                <a:latin typeface="Calibri"/>
              </a:defRPr>
            </a:pPr>
            <a:r>
              <a:rPr sz="2500" dirty="0"/>
              <a:t>• Baseline comparison: fixed non-agentic pipeline versus agentic workflow on the same datasets/tasks.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296229" y="57036"/>
            <a:ext cx="789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419864"/>
          </a:xfrm>
        </p:spPr>
        <p:txBody>
          <a:bodyPr wrap="square"/>
          <a:lstStyle/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1: Dataset profiling and data-quality assessment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2: LLM-based task understanding and workflow planning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3: Autonomous EDA, visualization and statistical analysis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4: Model selection, training and evaluation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5: Validation, error handling and self-correction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defRPr sz="2800">
                <a:latin typeface="Calibri"/>
              </a:defRPr>
            </a:pPr>
            <a:r>
              <a:rPr dirty="0"/>
              <a:t>Module 6: Insight synthesis, report generation and execution logging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688115" y="57036"/>
            <a:ext cx="750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5586781"/>
          </a:xfrm>
        </p:spPr>
        <p:txBody>
          <a:bodyPr wrap="square"/>
          <a:lstStyle/>
          <a:p>
            <a:pPr marL="0" indent="0">
              <a:buNone/>
              <a:defRPr sz="2800" b="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latin typeface="Calibri"/>
              </a:defRPr>
            </a:pPr>
            <a:r>
              <a:rPr lang="en-IN" dirty="0"/>
              <a:t>Modules Explanation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702629" y="57036"/>
            <a:ext cx="748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800" b="0">
                <a:latin typeface="Calibri"/>
              </a:defRPr>
            </a:pPr>
            <a:r>
              <a:rPr b="1" dirty="0"/>
              <a:t>Agentic AI Framework for Autonomous Data Analysis and Insight Generation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92C32F-46C4-FD32-E1FA-B12436248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33681"/>
              </p:ext>
            </p:extLst>
          </p:nvPr>
        </p:nvGraphicFramePr>
        <p:xfrm>
          <a:off x="-1" y="1211898"/>
          <a:ext cx="12192000" cy="5646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35157012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07534783"/>
                    </a:ext>
                  </a:extLst>
                </a:gridCol>
              </a:tblGrid>
              <a:tr h="490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843010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1: Dataset Profiling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Automatically inspect datasets and identify data types, missing values, duplicates, outliers, and quality issues.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188904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2: Task Understanding &amp; Workflow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Understand the user's analytical goal and dynamically generate an appropriate analysis workflow.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330512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3: Exploratory 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 automated statistical summaries, distributions, correlations, and visual exploration of the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131772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4: Model Selection &amp;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and execute suitable machine-learning or statistical models based on the dataset and analytical objective.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620485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5: Result Validation &amp; Iterative Refinement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analytical results, detect failures or weak outcomes, and refine the workflow when necessary.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941888"/>
                  </a:ext>
                </a:extLst>
              </a:tr>
              <a:tr h="85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6: Insight Generation &amp;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Synthesize validated findings, visualizations, model results, and limitations into an interpretable analytical report.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193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2126</Words>
  <Application>Microsoft Office PowerPoint</Application>
  <PresentationFormat>Widescreen</PresentationFormat>
  <Paragraphs>296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Sanjay Karthick S</cp:lastModifiedBy>
  <cp:revision>44</cp:revision>
  <dcterms:created xsi:type="dcterms:W3CDTF">2024-05-13T10:33:11Z</dcterms:created>
  <dcterms:modified xsi:type="dcterms:W3CDTF">2026-09-11T09:04:24Z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